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3" r:id="rId5"/>
    <p:sldId id="264" r:id="rId6"/>
    <p:sldId id="259" r:id="rId7"/>
    <p:sldId id="260" r:id="rId8"/>
    <p:sldId id="261" r:id="rId9"/>
    <p:sldId id="265" r:id="rId10"/>
    <p:sldId id="266" r:id="rId11"/>
    <p:sldId id="267" r:id="rId12"/>
    <p:sldId id="262"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49"/>
    <p:restoredTop sz="82745"/>
  </p:normalViewPr>
  <p:slideViewPr>
    <p:cSldViewPr snapToGrid="0">
      <p:cViewPr>
        <p:scale>
          <a:sx n="102" d="100"/>
          <a:sy n="102" d="100"/>
        </p:scale>
        <p:origin x="712" y="-224"/>
      </p:cViewPr>
      <p:guideLst/>
    </p:cSldViewPr>
  </p:slideViewPr>
  <p:notesTextViewPr>
    <p:cViewPr>
      <p:scale>
        <a:sx n="90" d="100"/>
        <a:sy n="9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72AE4-59F2-EB4D-8CF2-037390BCD943}" type="datetimeFigureOut">
              <a:rPr kumimoji="1" lang="zh-CN" altLang="en-US" smtClean="0"/>
              <a:t>2025/4/7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A512B4-2DDC-AE4B-8068-6E7A06CC5E0A}" type="slidenum">
              <a:rPr kumimoji="1" lang="zh-CN" altLang="en-US" smtClean="0"/>
              <a:t>‹#›</a:t>
            </a:fld>
            <a:endParaRPr kumimoji="1" lang="zh-CN" altLang="en-US"/>
          </a:p>
        </p:txBody>
      </p:sp>
    </p:spTree>
    <p:extLst>
      <p:ext uri="{BB962C8B-B14F-4D97-AF65-F5344CB8AC3E}">
        <p14:creationId xmlns:p14="http://schemas.microsoft.com/office/powerpoint/2010/main" val="257555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4A512B4-2DDC-AE4B-8068-6E7A06CC5E0A}" type="slidenum">
              <a:rPr kumimoji="1" lang="zh-CN" altLang="en-US" smtClean="0"/>
              <a:t>1</a:t>
            </a:fld>
            <a:endParaRPr kumimoji="1" lang="zh-CN" altLang="en-US"/>
          </a:p>
        </p:txBody>
      </p:sp>
    </p:spTree>
    <p:extLst>
      <p:ext uri="{BB962C8B-B14F-4D97-AF65-F5344CB8AC3E}">
        <p14:creationId xmlns:p14="http://schemas.microsoft.com/office/powerpoint/2010/main" val="4135769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视觉皮层</a:t>
            </a:r>
            <a:endParaRPr kumimoji="1" lang="en-US" altLang="zh-CN" dirty="0"/>
          </a:p>
          <a:p>
            <a:r>
              <a:rPr kumimoji="1" lang="zh-CN" altLang="en-US" dirty="0"/>
              <a:t>哺乳动物的中枢神经系统（</a:t>
            </a:r>
            <a:r>
              <a:rPr kumimoji="1" lang="en" altLang="zh-CN" dirty="0"/>
              <a:t>CNS</a:t>
            </a:r>
            <a:r>
              <a:rPr kumimoji="1" lang="zh-CN" altLang="en" dirty="0"/>
              <a:t>）</a:t>
            </a:r>
            <a:r>
              <a:rPr kumimoji="1" lang="zh-CN" altLang="en-US" dirty="0"/>
              <a:t>包含种类繁多的细胞类型，每种细胞类型都具有独特的形态、连接性、生理学和功能。要了解功能回路特性及其与高级认知功能和行为的关系，就必须对神经细胞类型进行全面描述。不同神经元和非神经元细胞的表型特性在很大程度上是表达基因产物独特组合的产物；因此，基因表达谱为确定大脑中细胞的多样性提供了一种信息模式。然而，组织学数据通常一次只针对一个基因生成，既没有系统地生成和分析数据，也没有以易于访问的格式整合数据。因此，在目前的文献中，有限的一组既定细胞标记占主导地位，许多基因的表达模式仍未定性。</a:t>
            </a:r>
          </a:p>
        </p:txBody>
      </p:sp>
      <p:sp>
        <p:nvSpPr>
          <p:cNvPr id="4" name="灯片编号占位符 3"/>
          <p:cNvSpPr>
            <a:spLocks noGrp="1"/>
          </p:cNvSpPr>
          <p:nvPr>
            <p:ph type="sldNum" sz="quarter" idx="5"/>
          </p:nvPr>
        </p:nvSpPr>
        <p:spPr/>
        <p:txBody>
          <a:bodyPr/>
          <a:lstStyle/>
          <a:p>
            <a:fld id="{C4A512B4-2DDC-AE4B-8068-6E7A06CC5E0A}" type="slidenum">
              <a:rPr kumimoji="1" lang="zh-CN" altLang="en-US" smtClean="0"/>
              <a:t>2</a:t>
            </a:fld>
            <a:endParaRPr kumimoji="1" lang="zh-CN" altLang="en-US"/>
          </a:p>
        </p:txBody>
      </p:sp>
    </p:spTree>
    <p:extLst>
      <p:ext uri="{BB962C8B-B14F-4D97-AF65-F5344CB8AC3E}">
        <p14:creationId xmlns:p14="http://schemas.microsoft.com/office/powerpoint/2010/main" val="1123746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9B8B2-D320-699C-91AF-C25C88DDCE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DC4F96-4D53-5B21-CBE7-2F70ADF034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A080FB-D091-40A6-790E-5932898E1A3A}"/>
              </a:ext>
            </a:extLst>
          </p:cNvPr>
          <p:cNvSpPr>
            <a:spLocks noGrp="1"/>
          </p:cNvSpPr>
          <p:nvPr>
            <p:ph type="body" idx="1"/>
          </p:nvPr>
        </p:nvSpPr>
        <p:spPr/>
        <p:txBody>
          <a:bodyPr/>
          <a:lstStyle/>
          <a:p>
            <a:pPr>
              <a:buNone/>
            </a:pPr>
            <a:r>
              <a:rPr lang="en" altLang="zh-CN" sz="1800" dirty="0">
                <a:solidFill>
                  <a:srgbClr val="000000"/>
                </a:solidFill>
                <a:effectLst/>
                <a:latin typeface="MyriadPro-Light"/>
              </a:rPr>
              <a:t>Improvement of the spot clustering and annotation using </a:t>
            </a:r>
            <a:endParaRPr lang="en" altLang="zh-CN" dirty="0"/>
          </a:p>
          <a:p>
            <a:r>
              <a:rPr lang="en" altLang="zh-CN" sz="1800" dirty="0">
                <a:solidFill>
                  <a:srgbClr val="000000"/>
                </a:solidFill>
                <a:effectLst/>
                <a:latin typeface="MyriadPro-Light"/>
              </a:rPr>
              <a:t>CSDI method</a:t>
            </a:r>
            <a:endParaRPr lang="en" altLang="zh-CN" dirty="0"/>
          </a:p>
          <a:p>
            <a:endParaRPr kumimoji="1" lang="zh-CN" altLang="en-US" dirty="0"/>
          </a:p>
        </p:txBody>
      </p:sp>
      <p:sp>
        <p:nvSpPr>
          <p:cNvPr id="4" name="灯片编号占位符 3">
            <a:extLst>
              <a:ext uri="{FF2B5EF4-FFF2-40B4-BE49-F238E27FC236}">
                <a16:creationId xmlns:a16="http://schemas.microsoft.com/office/drawing/2014/main" id="{9BE10F77-0114-5CA0-AF83-D46CB83ECA72}"/>
              </a:ext>
            </a:extLst>
          </p:cNvPr>
          <p:cNvSpPr>
            <a:spLocks noGrp="1"/>
          </p:cNvSpPr>
          <p:nvPr>
            <p:ph type="sldNum" sz="quarter" idx="5"/>
          </p:nvPr>
        </p:nvSpPr>
        <p:spPr/>
        <p:txBody>
          <a:bodyPr/>
          <a:lstStyle/>
          <a:p>
            <a:fld id="{C4A512B4-2DDC-AE4B-8068-6E7A06CC5E0A}" type="slidenum">
              <a:rPr kumimoji="1" lang="zh-CN" altLang="en-US" smtClean="0"/>
              <a:t>3</a:t>
            </a:fld>
            <a:endParaRPr kumimoji="1" lang="zh-CN" altLang="en-US"/>
          </a:p>
        </p:txBody>
      </p:sp>
    </p:spTree>
    <p:extLst>
      <p:ext uri="{BB962C8B-B14F-4D97-AF65-F5344CB8AC3E}">
        <p14:creationId xmlns:p14="http://schemas.microsoft.com/office/powerpoint/2010/main" val="4164594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在雅可比行列式秩为</a:t>
            </a:r>
            <a:r>
              <a:rPr lang="en-US" altLang="zh-CN"/>
              <a:t>1</a:t>
            </a:r>
            <a:r>
              <a:rPr lang="zh-CN" altLang="en-US"/>
              <a:t>的假设下，我们可以将梯度表示为下面这个式子，其中</a:t>
            </a:r>
            <a:r>
              <a:rPr lang="en-US" altLang="zh-CN"/>
              <a:t>β</a:t>
            </a:r>
            <a:r>
              <a:rPr lang="zh-CN" altLang="en-US"/>
              <a:t>为标量，</a:t>
            </a:r>
            <a:r>
              <a:rPr lang="en-US" altLang="zh-CN"/>
              <a:t>v</a:t>
            </a:r>
            <a:r>
              <a:rPr lang="zh-CN" altLang="en-US"/>
              <a:t>为矢量，表示上面统一得到的方向。而后代入上面</a:t>
            </a:r>
            <a:r>
              <a:rPr lang="en-US" altLang="zh-CN"/>
              <a:t>(2)</a:t>
            </a:r>
            <a:r>
              <a:rPr lang="zh-CN" altLang="en-US"/>
              <a:t>式我们可以得到下面这个式子</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在进一步推导之前，作者提出了三个关键假设，以简化</a:t>
            </a:r>
            <a:r>
              <a:rPr lang="en-US" altLang="zh-CN"/>
              <a:t>GASTON</a:t>
            </a:r>
            <a:r>
              <a:rPr lang="zh-CN" altLang="en-US"/>
              <a:t>模型的建模过程。</a:t>
            </a:r>
            <a:endParaRPr lang="en-US" altLang="zh-CN"/>
          </a:p>
          <a:p>
            <a:r>
              <a:rPr lang="zh-CN" altLang="en-US"/>
              <a:t>假设</a:t>
            </a:r>
            <a:r>
              <a:rPr lang="en-US" altLang="zh-CN"/>
              <a:t>1</a:t>
            </a:r>
            <a:r>
              <a:rPr lang="zh-CN" altLang="en-US"/>
              <a:t>：空间梯度向量场</a:t>
            </a:r>
            <a:r>
              <a:rPr lang="en-US" altLang="zh-CN"/>
              <a:t> v </a:t>
            </a:r>
            <a:r>
              <a:rPr lang="zh-CN" altLang="en-US"/>
              <a:t>是某个连续可微的标量函数</a:t>
            </a:r>
            <a:r>
              <a:rPr lang="en-US" altLang="zh-CN"/>
              <a:t> d </a:t>
            </a:r>
            <a:r>
              <a:rPr lang="zh-CN" altLang="en-US"/>
              <a:t>的梯度，即</a:t>
            </a:r>
            <a:r>
              <a:rPr lang="en-US" altLang="zh-CN"/>
              <a:t> v = </a:t>
            </a:r>
            <a:r>
              <a:rPr lang="zh-CN" altLang="en-US"/>
              <a:t>▽</a:t>
            </a:r>
            <a:r>
              <a:rPr lang="en-US" altLang="zh-CN"/>
              <a:t>d</a:t>
            </a:r>
            <a:r>
              <a:rPr lang="zh-CN" altLang="en-US"/>
              <a:t>。这里的</a:t>
            </a:r>
            <a:r>
              <a:rPr lang="en-US" altLang="zh-CN"/>
              <a:t> d </a:t>
            </a:r>
            <a:r>
              <a:rPr lang="zh-CN" altLang="en-US"/>
              <a:t>就是我们之前提到的</a:t>
            </a:r>
            <a:r>
              <a:rPr lang="en-US" altLang="zh-CN"/>
              <a:t>‘</a:t>
            </a:r>
            <a:r>
              <a:rPr lang="zh-CN" altLang="en-US"/>
              <a:t>等深度</a:t>
            </a:r>
            <a:r>
              <a:rPr lang="en-US" altLang="zh-CN"/>
              <a:t>’</a:t>
            </a:r>
            <a:r>
              <a:rPr lang="zh-CN" altLang="en-US"/>
              <a:t>（</a:t>
            </a:r>
            <a:r>
              <a:rPr lang="en-US" altLang="zh-CN"/>
              <a:t>isodepth</a:t>
            </a:r>
            <a:r>
              <a:rPr lang="zh-CN" altLang="en-US"/>
              <a:t>），它将组织切片映射为一个标量场，类似于地形图中的高度函数。这一假设确保了梯度方向的连续性，为后续的空间域划分提供了基础。</a:t>
            </a:r>
            <a:endParaRPr lang="en-US" altLang="zh-CN"/>
          </a:p>
          <a:p>
            <a:r>
              <a:rPr lang="zh-CN" altLang="en-US"/>
              <a:t>假设</a:t>
            </a:r>
            <a:r>
              <a:rPr lang="en-US" altLang="zh-CN"/>
              <a:t>2</a:t>
            </a:r>
            <a:r>
              <a:rPr lang="zh-CN" altLang="en-US"/>
              <a:t>：每个空间域</a:t>
            </a:r>
            <a:r>
              <a:rPr lang="en-US" altLang="zh-CN"/>
              <a:t> R_p </a:t>
            </a:r>
            <a:r>
              <a:rPr lang="zh-CN" altLang="en-US"/>
              <a:t>被定义为等深度</a:t>
            </a:r>
            <a:r>
              <a:rPr lang="en-US" altLang="zh-CN"/>
              <a:t> d(x, y) </a:t>
            </a:r>
            <a:r>
              <a:rPr lang="zh-CN" altLang="en-US"/>
              <a:t>在某个区间</a:t>
            </a:r>
            <a:r>
              <a:rPr lang="en-US" altLang="zh-CN"/>
              <a:t> b_{p-1}, b_p </a:t>
            </a:r>
            <a:r>
              <a:rPr lang="zh-CN" altLang="en-US"/>
              <a:t>内的位置集合，即</a:t>
            </a:r>
            <a:r>
              <a:rPr lang="en-US" altLang="zh-CN"/>
              <a:t> R_p = {(x, y) : b_{p-1} &lt; d(x, y) \leq b_p}</a:t>
            </a:r>
            <a:r>
              <a:rPr lang="zh-CN" altLang="en-US"/>
              <a:t>。其中，</a:t>
            </a:r>
            <a:r>
              <a:rPr lang="en-US" altLang="zh-CN"/>
              <a:t>b_p </a:t>
            </a:r>
            <a:r>
              <a:rPr lang="zh-CN" altLang="en-US"/>
              <a:t>是一组实数，满足</a:t>
            </a:r>
            <a:r>
              <a:rPr lang="en-US" altLang="zh-CN"/>
              <a:t> -\infty = b_0 &lt; b_1 &lt; \cdots &lt; b_{Q-1} &lt; b_Q = \infty</a:t>
            </a:r>
            <a:r>
              <a:rPr lang="zh-CN" altLang="en-US"/>
              <a:t>。这意味着空间域</a:t>
            </a:r>
            <a:r>
              <a:rPr lang="en-US" altLang="zh-CN"/>
              <a:t> R_p </a:t>
            </a:r>
            <a:r>
              <a:rPr lang="zh-CN" altLang="en-US"/>
              <a:t>是由等深度值的分段区间定义的，类似于地形图中不同高度区间对应的区域。</a:t>
            </a:r>
            <a:endParaRPr lang="en-US" altLang="zh-CN"/>
          </a:p>
          <a:p>
            <a:r>
              <a:rPr lang="zh-CN" altLang="en-US"/>
              <a:t>假设</a:t>
            </a:r>
            <a:r>
              <a:rPr lang="en-US" altLang="zh-CN"/>
              <a:t>3</a:t>
            </a:r>
            <a:r>
              <a:rPr lang="zh-CN" altLang="en-US"/>
              <a:t>：标量函数</a:t>
            </a:r>
            <a:r>
              <a:rPr lang="en-US" altLang="zh-CN"/>
              <a:t> \beta_g(x, y) </a:t>
            </a:r>
            <a:r>
              <a:rPr lang="zh-CN" altLang="en-US"/>
              <a:t>在每个空间域</a:t>
            </a:r>
            <a:r>
              <a:rPr lang="en-US" altLang="zh-CN"/>
              <a:t> R_p </a:t>
            </a:r>
            <a:r>
              <a:rPr lang="zh-CN" altLang="en-US"/>
              <a:t>内是分段常数（</a:t>
            </a:r>
            <a:r>
              <a:rPr lang="en-US" altLang="zh-CN"/>
              <a:t>piecewise constant</a:t>
            </a:r>
            <a:r>
              <a:rPr lang="zh-CN" altLang="en-US"/>
              <a:t>），即</a:t>
            </a:r>
            <a:r>
              <a:rPr lang="en-US" altLang="zh-CN"/>
              <a:t> \beta_g(x, y) = \sum_{p=1}^{Q} \beta_{g,p} 1_{{(x, y) \in R_p}}</a:t>
            </a:r>
            <a:r>
              <a:rPr lang="zh-CN" altLang="en-US"/>
              <a:t>。这里的</a:t>
            </a:r>
            <a:r>
              <a:rPr lang="en-US" altLang="zh-CN"/>
              <a:t> \beta_{g,p} </a:t>
            </a:r>
            <a:r>
              <a:rPr lang="zh-CN" altLang="en-US"/>
              <a:t>是基因</a:t>
            </a:r>
            <a:r>
              <a:rPr lang="en-US" altLang="zh-CN"/>
              <a:t> g </a:t>
            </a:r>
            <a:r>
              <a:rPr lang="zh-CN" altLang="en-US"/>
              <a:t>在空间域</a:t>
            </a:r>
            <a:r>
              <a:rPr lang="en-US" altLang="zh-CN"/>
              <a:t> R_p </a:t>
            </a:r>
            <a:r>
              <a:rPr lang="zh-CN" altLang="en-US"/>
              <a:t>内的常数值，表示该基因在该区域内的梯度大小。这一假设简化了梯度计算，使其在每个空间域内保持一致。</a:t>
            </a:r>
            <a:endParaRPr lang="en-US" altLang="zh-CN"/>
          </a:p>
          <a:p>
            <a:r>
              <a:rPr lang="zh-CN" altLang="en-US"/>
              <a:t>通过这三个假设，</a:t>
            </a:r>
            <a:r>
              <a:rPr lang="en-US" altLang="zh-CN"/>
              <a:t>GASTON</a:t>
            </a:r>
            <a:r>
              <a:rPr lang="zh-CN" altLang="en-US"/>
              <a:t>将复杂的空间基因表达模式简化为基于等深度的分段模型，既保证了梯度方向的统一性，又保留了空间域内的局部特性，为后续的生物学分析奠定了基础。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CAF56-0B2B-F3B7-4D23-62F17B549D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2740BC-C43D-9704-D9AD-D30ABC06AB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53A792-1BDF-6EDD-9280-869739EFA2A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2E7BD8B3-A9F3-F4D4-98A3-518EC18AACF3}"/>
              </a:ext>
            </a:extLst>
          </p:cNvPr>
          <p:cNvSpPr>
            <a:spLocks noGrp="1"/>
          </p:cNvSpPr>
          <p:nvPr>
            <p:ph type="sldNum" sz="quarter" idx="5"/>
          </p:nvPr>
        </p:nvSpPr>
        <p:spPr/>
        <p:txBody>
          <a:bodyPr/>
          <a:lstStyle/>
          <a:p>
            <a:fld id="{C4A512B4-2DDC-AE4B-8068-6E7A06CC5E0A}" type="slidenum">
              <a:rPr kumimoji="1" lang="zh-CN" altLang="en-US" smtClean="0"/>
              <a:t>6</a:t>
            </a:fld>
            <a:endParaRPr kumimoji="1" lang="zh-CN" altLang="en-US"/>
          </a:p>
        </p:txBody>
      </p:sp>
    </p:spTree>
    <p:extLst>
      <p:ext uri="{BB962C8B-B14F-4D97-AF65-F5344CB8AC3E}">
        <p14:creationId xmlns:p14="http://schemas.microsoft.com/office/powerpoint/2010/main" val="2971725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CC514-FBE2-040A-5FC6-37C20794A6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FD92FF-3C03-9FCA-DC6B-275A0A199B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8D7714-532E-8709-FB94-A6C633F768C3}"/>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8BA76378-E9BD-755E-138E-6DB4B269515F}"/>
              </a:ext>
            </a:extLst>
          </p:cNvPr>
          <p:cNvSpPr>
            <a:spLocks noGrp="1"/>
          </p:cNvSpPr>
          <p:nvPr>
            <p:ph type="sldNum" sz="quarter" idx="5"/>
          </p:nvPr>
        </p:nvSpPr>
        <p:spPr/>
        <p:txBody>
          <a:bodyPr/>
          <a:lstStyle/>
          <a:p>
            <a:fld id="{C4A512B4-2DDC-AE4B-8068-6E7A06CC5E0A}" type="slidenum">
              <a:rPr kumimoji="1" lang="zh-CN" altLang="en-US" smtClean="0"/>
              <a:t>7</a:t>
            </a:fld>
            <a:endParaRPr kumimoji="1" lang="zh-CN" altLang="en-US"/>
          </a:p>
        </p:txBody>
      </p:sp>
    </p:spTree>
    <p:extLst>
      <p:ext uri="{BB962C8B-B14F-4D97-AF65-F5344CB8AC3E}">
        <p14:creationId xmlns:p14="http://schemas.microsoft.com/office/powerpoint/2010/main" val="4043872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3D440-D8DC-9099-CDA1-200A6088D1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666594-D654-5F23-21FD-6684F1E2D2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F99BFF-56EB-7891-BDD1-A10A19EA2A32}"/>
              </a:ext>
            </a:extLst>
          </p:cNvPr>
          <p:cNvSpPr>
            <a:spLocks noGrp="1"/>
          </p:cNvSpPr>
          <p:nvPr>
            <p:ph type="body" idx="1"/>
          </p:nvPr>
        </p:nvSpPr>
        <p:spPr/>
        <p:txBody>
          <a:bodyPr/>
          <a:lstStyle/>
          <a:p>
            <a:r>
              <a:rPr kumimoji="1" lang="en-US" altLang="zh-CN" sz="1200" dirty="0">
                <a:latin typeface="Arial" panose="020B0604020202020204" pitchFamily="34" charset="0"/>
                <a:cs typeface="Arial" panose="020B0604020202020204" pitchFamily="34" charset="0"/>
              </a:rPr>
              <a:t>MBP--</a:t>
            </a:r>
            <a:r>
              <a:rPr kumimoji="1" lang="zh-CN" altLang="en-US" sz="1200" dirty="0">
                <a:latin typeface="Arial" panose="020B0604020202020204" pitchFamily="34" charset="0"/>
                <a:cs typeface="Arial" panose="020B0604020202020204" pitchFamily="34" charset="0"/>
              </a:rPr>
              <a:t>髓鞘形成的主要蛋白</a:t>
            </a:r>
            <a:endParaRPr kumimoji="1" lang="en-US" altLang="zh-CN" sz="1200" dirty="0">
              <a:latin typeface="Arial" panose="020B0604020202020204" pitchFamily="34" charset="0"/>
              <a:cs typeface="Arial" panose="020B0604020202020204" pitchFamily="34" charset="0"/>
            </a:endParaRPr>
          </a:p>
          <a:p>
            <a:r>
              <a:rPr kumimoji="1" lang="en-US" altLang="zh-CN" sz="1200" dirty="0">
                <a:latin typeface="Arial" panose="020B0604020202020204" pitchFamily="34" charset="0"/>
                <a:cs typeface="Arial" panose="020B0604020202020204" pitchFamily="34" charset="0"/>
              </a:rPr>
              <a:t>PLP1--</a:t>
            </a:r>
            <a:r>
              <a:rPr kumimoji="1" lang="zh-CN" altLang="en-US" sz="1200" dirty="0">
                <a:latin typeface="Arial" panose="020B0604020202020204" pitchFamily="34" charset="0"/>
                <a:cs typeface="Arial" panose="020B0604020202020204" pitchFamily="34" charset="0"/>
              </a:rPr>
              <a:t>髓鞘形成的关键蛋白</a:t>
            </a:r>
            <a:endParaRPr kumimoji="1" lang="en-US" altLang="zh-CN" sz="1200" dirty="0">
              <a:latin typeface="Arial" panose="020B0604020202020204" pitchFamily="34" charset="0"/>
              <a:cs typeface="Arial" panose="020B0604020202020204" pitchFamily="34" charset="0"/>
            </a:endParaRPr>
          </a:p>
          <a:p>
            <a:r>
              <a:rPr kumimoji="1" lang="en" altLang="zh-CN" sz="1200" dirty="0">
                <a:latin typeface="Arial" panose="020B0604020202020204" pitchFamily="34" charset="0"/>
                <a:cs typeface="Arial" panose="020B0604020202020204" pitchFamily="34" charset="0"/>
              </a:rPr>
              <a:t>CLDND1</a:t>
            </a:r>
            <a:r>
              <a:rPr kumimoji="1" lang="en-US" altLang="zh-CN" sz="1200" dirty="0">
                <a:latin typeface="Arial" panose="020B0604020202020204" pitchFamily="34" charset="0"/>
                <a:cs typeface="Arial" panose="020B0604020202020204" pitchFamily="34" charset="0"/>
              </a:rPr>
              <a:t>--</a:t>
            </a:r>
            <a:r>
              <a:rPr kumimoji="1" lang="zh-CN" altLang="en-US" sz="1200" dirty="0">
                <a:latin typeface="Arial" panose="020B0604020202020204" pitchFamily="34" charset="0"/>
                <a:cs typeface="Arial" panose="020B0604020202020204" pitchFamily="34" charset="0"/>
              </a:rPr>
              <a:t>参与细胞间连接和屏障功能</a:t>
            </a:r>
            <a:endParaRPr kumimoji="1" lang="en-US" altLang="zh-CN" sz="1200" dirty="0">
              <a:latin typeface="Arial" panose="020B0604020202020204" pitchFamily="34" charset="0"/>
              <a:cs typeface="Arial" panose="020B0604020202020204" pitchFamily="34" charset="0"/>
            </a:endParaRPr>
          </a:p>
          <a:p>
            <a:endParaRPr kumimoji="1" lang="en-US" altLang="zh-CN" sz="1200" dirty="0">
              <a:latin typeface="Arial" panose="020B0604020202020204" pitchFamily="34" charset="0"/>
              <a:cs typeface="Arial" panose="020B0604020202020204" pitchFamily="34" charset="0"/>
            </a:endParaRPr>
          </a:p>
          <a:p>
            <a:r>
              <a:rPr kumimoji="1" lang="zh-CN" altLang="en-US" dirty="0"/>
              <a:t>以少突胶质细胞为主，可能是与髓鞘形成和神经保护有关的白质区域</a:t>
            </a:r>
          </a:p>
        </p:txBody>
      </p:sp>
      <p:sp>
        <p:nvSpPr>
          <p:cNvPr id="4" name="灯片编号占位符 3">
            <a:extLst>
              <a:ext uri="{FF2B5EF4-FFF2-40B4-BE49-F238E27FC236}">
                <a16:creationId xmlns:a16="http://schemas.microsoft.com/office/drawing/2014/main" id="{5BAB0A9B-5E4B-8BFC-3EA3-0D4C73E3D3DA}"/>
              </a:ext>
            </a:extLst>
          </p:cNvPr>
          <p:cNvSpPr>
            <a:spLocks noGrp="1"/>
          </p:cNvSpPr>
          <p:nvPr>
            <p:ph type="sldNum" sz="quarter" idx="5"/>
          </p:nvPr>
        </p:nvSpPr>
        <p:spPr/>
        <p:txBody>
          <a:bodyPr/>
          <a:lstStyle/>
          <a:p>
            <a:fld id="{C4A512B4-2DDC-AE4B-8068-6E7A06CC5E0A}" type="slidenum">
              <a:rPr kumimoji="1" lang="zh-CN" altLang="en-US" smtClean="0"/>
              <a:t>8</a:t>
            </a:fld>
            <a:endParaRPr kumimoji="1" lang="zh-CN" altLang="en-US"/>
          </a:p>
        </p:txBody>
      </p:sp>
    </p:spTree>
    <p:extLst>
      <p:ext uri="{BB962C8B-B14F-4D97-AF65-F5344CB8AC3E}">
        <p14:creationId xmlns:p14="http://schemas.microsoft.com/office/powerpoint/2010/main" val="1405624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B9BF6-7880-B4AB-7E38-DFACAE40EE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6600FB-9453-B123-C237-168329D5B6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B00CEE-7EF0-0D01-E2FB-8E36EAE0D6B0}"/>
              </a:ext>
            </a:extLst>
          </p:cNvPr>
          <p:cNvSpPr>
            <a:spLocks noGrp="1"/>
          </p:cNvSpPr>
          <p:nvPr>
            <p:ph type="body" idx="1"/>
          </p:nvPr>
        </p:nvSpPr>
        <p:spPr/>
        <p:txBody>
          <a:bodyPr/>
          <a:lstStyle/>
          <a:p>
            <a:r>
              <a:rPr kumimoji="1" lang="zh-CN" altLang="en-US" dirty="0"/>
              <a:t>可能代表一个以神经元为主的功能区域，例如脑皮层（</a:t>
            </a:r>
            <a:r>
              <a:rPr kumimoji="1" lang="en" altLang="zh-CN" dirty="0"/>
              <a:t>Cortex</a:t>
            </a:r>
            <a:r>
              <a:rPr kumimoji="1" lang="zh-CN" altLang="en" dirty="0"/>
              <a:t>）</a:t>
            </a:r>
            <a:r>
              <a:rPr kumimoji="1" lang="zh-CN" altLang="en-US" dirty="0"/>
              <a:t>的灰质区域，与神经信号传导和突触功能相关。</a:t>
            </a:r>
          </a:p>
        </p:txBody>
      </p:sp>
      <p:sp>
        <p:nvSpPr>
          <p:cNvPr id="4" name="灯片编号占位符 3">
            <a:extLst>
              <a:ext uri="{FF2B5EF4-FFF2-40B4-BE49-F238E27FC236}">
                <a16:creationId xmlns:a16="http://schemas.microsoft.com/office/drawing/2014/main" id="{12170864-398A-3655-6985-20BADA1100E9}"/>
              </a:ext>
            </a:extLst>
          </p:cNvPr>
          <p:cNvSpPr>
            <a:spLocks noGrp="1"/>
          </p:cNvSpPr>
          <p:nvPr>
            <p:ph type="sldNum" sz="quarter" idx="5"/>
          </p:nvPr>
        </p:nvSpPr>
        <p:spPr/>
        <p:txBody>
          <a:bodyPr/>
          <a:lstStyle/>
          <a:p>
            <a:fld id="{C4A512B4-2DDC-AE4B-8068-6E7A06CC5E0A}" type="slidenum">
              <a:rPr kumimoji="1" lang="zh-CN" altLang="en-US" smtClean="0"/>
              <a:t>9</a:t>
            </a:fld>
            <a:endParaRPr kumimoji="1" lang="zh-CN" altLang="en-US"/>
          </a:p>
        </p:txBody>
      </p:sp>
    </p:spTree>
    <p:extLst>
      <p:ext uri="{BB962C8B-B14F-4D97-AF65-F5344CB8AC3E}">
        <p14:creationId xmlns:p14="http://schemas.microsoft.com/office/powerpoint/2010/main" val="43812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1EB81-131D-920A-4462-173B47AC98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AE7E4A-2B57-3A09-6BA0-9ABDDEF760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051C1B8-E037-C21F-8E8C-BC160B0C6E04}"/>
              </a:ext>
            </a:extLst>
          </p:cNvPr>
          <p:cNvSpPr>
            <a:spLocks noGrp="1"/>
          </p:cNvSpPr>
          <p:nvPr>
            <p:ph type="body" idx="1"/>
          </p:nvPr>
        </p:nvSpPr>
        <p:spPr/>
        <p:txBody>
          <a:bodyPr/>
          <a:lstStyle/>
          <a:p>
            <a:r>
              <a:rPr kumimoji="1" lang="zh-CN" altLang="en-US" dirty="0"/>
              <a:t>可能代表一个以神经元为主的功能区域，例如脑皮层（</a:t>
            </a:r>
            <a:r>
              <a:rPr kumimoji="1" lang="en" altLang="zh-CN" dirty="0"/>
              <a:t>Cortex</a:t>
            </a:r>
            <a:r>
              <a:rPr kumimoji="1" lang="zh-CN" altLang="en" dirty="0"/>
              <a:t>）</a:t>
            </a:r>
            <a:r>
              <a:rPr kumimoji="1" lang="zh-CN" altLang="en-US" dirty="0"/>
              <a:t>的灰质区域，与神经信号传导和突触功能相关。</a:t>
            </a:r>
          </a:p>
        </p:txBody>
      </p:sp>
      <p:sp>
        <p:nvSpPr>
          <p:cNvPr id="4" name="灯片编号占位符 3">
            <a:extLst>
              <a:ext uri="{FF2B5EF4-FFF2-40B4-BE49-F238E27FC236}">
                <a16:creationId xmlns:a16="http://schemas.microsoft.com/office/drawing/2014/main" id="{7C5DEFB6-996C-A043-85BB-3138B3C70D6F}"/>
              </a:ext>
            </a:extLst>
          </p:cNvPr>
          <p:cNvSpPr>
            <a:spLocks noGrp="1"/>
          </p:cNvSpPr>
          <p:nvPr>
            <p:ph type="sldNum" sz="quarter" idx="5"/>
          </p:nvPr>
        </p:nvSpPr>
        <p:spPr/>
        <p:txBody>
          <a:bodyPr/>
          <a:lstStyle/>
          <a:p>
            <a:fld id="{C4A512B4-2DDC-AE4B-8068-6E7A06CC5E0A}" type="slidenum">
              <a:rPr kumimoji="1" lang="zh-CN" altLang="en-US" smtClean="0"/>
              <a:t>10</a:t>
            </a:fld>
            <a:endParaRPr kumimoji="1" lang="zh-CN" altLang="en-US"/>
          </a:p>
        </p:txBody>
      </p:sp>
    </p:spTree>
    <p:extLst>
      <p:ext uri="{BB962C8B-B14F-4D97-AF65-F5344CB8AC3E}">
        <p14:creationId xmlns:p14="http://schemas.microsoft.com/office/powerpoint/2010/main" val="1006708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A28FE-8CDD-17B0-4069-EC2F984893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23E0D3-3757-7D05-55A8-80A8BC7D36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D81E4A-32D6-8B67-6777-057E33115BDA}"/>
              </a:ext>
            </a:extLst>
          </p:cNvPr>
          <p:cNvSpPr>
            <a:spLocks noGrp="1"/>
          </p:cNvSpPr>
          <p:nvPr>
            <p:ph type="body" idx="1"/>
          </p:nvPr>
        </p:nvSpPr>
        <p:spPr/>
        <p:txBody>
          <a:bodyPr/>
          <a:lstStyle/>
          <a:p>
            <a:r>
              <a:rPr kumimoji="1" lang="zh-CN" altLang="en-US" dirty="0"/>
              <a:t>可能代表一个以神经元为主的功能区域，例如脑皮层（</a:t>
            </a:r>
            <a:r>
              <a:rPr kumimoji="1" lang="en" altLang="zh-CN" dirty="0"/>
              <a:t>Cortex</a:t>
            </a:r>
            <a:r>
              <a:rPr kumimoji="1" lang="zh-CN" altLang="en" dirty="0"/>
              <a:t>）</a:t>
            </a:r>
            <a:r>
              <a:rPr kumimoji="1" lang="zh-CN" altLang="en-US" dirty="0"/>
              <a:t>的灰质区域，与神经信号传导和突触功能相关。</a:t>
            </a:r>
          </a:p>
        </p:txBody>
      </p:sp>
      <p:sp>
        <p:nvSpPr>
          <p:cNvPr id="4" name="灯片编号占位符 3">
            <a:extLst>
              <a:ext uri="{FF2B5EF4-FFF2-40B4-BE49-F238E27FC236}">
                <a16:creationId xmlns:a16="http://schemas.microsoft.com/office/drawing/2014/main" id="{165CFE56-55AF-C82B-B699-BBE4500A29BB}"/>
              </a:ext>
            </a:extLst>
          </p:cNvPr>
          <p:cNvSpPr>
            <a:spLocks noGrp="1"/>
          </p:cNvSpPr>
          <p:nvPr>
            <p:ph type="sldNum" sz="quarter" idx="5"/>
          </p:nvPr>
        </p:nvSpPr>
        <p:spPr/>
        <p:txBody>
          <a:bodyPr/>
          <a:lstStyle/>
          <a:p>
            <a:fld id="{C4A512B4-2DDC-AE4B-8068-6E7A06CC5E0A}" type="slidenum">
              <a:rPr kumimoji="1" lang="zh-CN" altLang="en-US" smtClean="0"/>
              <a:t>11</a:t>
            </a:fld>
            <a:endParaRPr kumimoji="1" lang="zh-CN" altLang="en-US"/>
          </a:p>
        </p:txBody>
      </p:sp>
    </p:spTree>
    <p:extLst>
      <p:ext uri="{BB962C8B-B14F-4D97-AF65-F5344CB8AC3E}">
        <p14:creationId xmlns:p14="http://schemas.microsoft.com/office/powerpoint/2010/main" val="1530349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CEB77-6019-F066-8502-6522FE689C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5C7580-463F-2B28-8CDD-578402ACB7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C68817-0A80-4A88-B220-C0325AC2ABB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6E12C63-5B42-6F04-A9AE-D7A4E5E44576}"/>
              </a:ext>
            </a:extLst>
          </p:cNvPr>
          <p:cNvSpPr>
            <a:spLocks noGrp="1"/>
          </p:cNvSpPr>
          <p:nvPr>
            <p:ph type="sldNum" sz="quarter" idx="5"/>
          </p:nvPr>
        </p:nvSpPr>
        <p:spPr/>
        <p:txBody>
          <a:bodyPr/>
          <a:lstStyle/>
          <a:p>
            <a:fld id="{C4A512B4-2DDC-AE4B-8068-6E7A06CC5E0A}" type="slidenum">
              <a:rPr kumimoji="1" lang="zh-CN" altLang="en-US" smtClean="0"/>
              <a:t>12</a:t>
            </a:fld>
            <a:endParaRPr kumimoji="1" lang="zh-CN" altLang="en-US"/>
          </a:p>
        </p:txBody>
      </p:sp>
    </p:spTree>
    <p:extLst>
      <p:ext uri="{BB962C8B-B14F-4D97-AF65-F5344CB8AC3E}">
        <p14:creationId xmlns:p14="http://schemas.microsoft.com/office/powerpoint/2010/main" val="3023569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61E616-8FD1-84A0-0F39-AA6C94722BC7}"/>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75B25484-F330-7E37-5081-4B7BC01F4D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03DA128-A97F-7F13-590F-E5CDA9F5F073}"/>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5" name="页脚占位符 4">
            <a:extLst>
              <a:ext uri="{FF2B5EF4-FFF2-40B4-BE49-F238E27FC236}">
                <a16:creationId xmlns:a16="http://schemas.microsoft.com/office/drawing/2014/main" id="{DC5440EC-BFC7-27B2-59CC-F16B2F9343F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86D5C4C-975B-DC60-E6D8-A3A8F08E0D5A}"/>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4200350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08176B-2947-5198-4093-D1006264711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1F12DC8-E624-5620-3377-0B948E1AFE9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6B20279-D7F4-824A-3F64-643728A817F2}"/>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5" name="页脚占位符 4">
            <a:extLst>
              <a:ext uri="{FF2B5EF4-FFF2-40B4-BE49-F238E27FC236}">
                <a16:creationId xmlns:a16="http://schemas.microsoft.com/office/drawing/2014/main" id="{5CB4DAAC-EE8A-9C16-B8D9-E6DFDC2210A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4169CBA-B581-EC04-D95D-1DADA40981D7}"/>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88008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5770D9-5954-5B43-5DCD-A0570E61D67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D37A7F-CB14-BD7F-5E24-0B19E4762F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368EAA00-D635-5B6F-64D9-9323F4BA6051}"/>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5" name="页脚占位符 4">
            <a:extLst>
              <a:ext uri="{FF2B5EF4-FFF2-40B4-BE49-F238E27FC236}">
                <a16:creationId xmlns:a16="http://schemas.microsoft.com/office/drawing/2014/main" id="{0BAB9700-7A46-569C-169F-65103803C7F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A99DBEE-9CC6-B264-DA9F-DB499665585D}"/>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1446005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2757BC-BC8F-9276-47FB-622B9F08725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086811E-816F-4A4B-F434-A0ABAB949F64}"/>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DBE3C935-373C-AD58-5FE3-20167C65728B}"/>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E10C66AA-BBDE-F575-D38C-42468F4ACFBC}"/>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6" name="页脚占位符 5">
            <a:extLst>
              <a:ext uri="{FF2B5EF4-FFF2-40B4-BE49-F238E27FC236}">
                <a16:creationId xmlns:a16="http://schemas.microsoft.com/office/drawing/2014/main" id="{A20FBDD8-1845-8279-A2D1-97DB785C1DE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7F32246-A66D-8914-2AC2-EDECA59ADD49}"/>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1935460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71FDFB-4C7A-2B06-1C73-61F1B611FD1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6F11952-2DF7-C719-D3E1-66C29E5118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2EDD493-3CD5-BBFD-AC96-F681D65383A0}"/>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B25F506-F01B-A572-45FC-DEEDE9AC0D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090E9A84-C437-73C7-355C-F633784913A7}"/>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33CB26A-60D6-FFD5-F7F0-ADEBE52D182B}"/>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8" name="页脚占位符 7">
            <a:extLst>
              <a:ext uri="{FF2B5EF4-FFF2-40B4-BE49-F238E27FC236}">
                <a16:creationId xmlns:a16="http://schemas.microsoft.com/office/drawing/2014/main" id="{3FB4A4AD-E943-29AB-B6D5-41AD188C0935}"/>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ECE16F04-5D94-81B3-4E9B-5AB27175A9D2}"/>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1175389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42EEE5-A8AE-7436-9467-73AC24E250C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B4DDB3B-DC18-7C8D-5BDD-66C83782E8CE}"/>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4" name="页脚占位符 3">
            <a:extLst>
              <a:ext uri="{FF2B5EF4-FFF2-40B4-BE49-F238E27FC236}">
                <a16:creationId xmlns:a16="http://schemas.microsoft.com/office/drawing/2014/main" id="{408F3EC6-4EC8-A725-CA9E-99A46BF87F9B}"/>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863ED17-2C4A-7E18-A7AA-C6B605CBBBC8}"/>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3790572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F291E7-3CF5-9599-AD2B-ECBB60C5AC0E}"/>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3" name="页脚占位符 2">
            <a:extLst>
              <a:ext uri="{FF2B5EF4-FFF2-40B4-BE49-F238E27FC236}">
                <a16:creationId xmlns:a16="http://schemas.microsoft.com/office/drawing/2014/main" id="{5C2CE621-D38C-2824-B4A2-0178CBEA342C}"/>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B9D50F0-F97E-135E-EC1B-4F1F97AD6EDD}"/>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641800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6C08C-5F93-D4B1-6473-D5DA81E16DB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88704F57-13CF-DAF1-FD1B-BD83511898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1D3636D0-3C76-FA67-4913-1D81AA9C9C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5E21B507-622F-3998-B487-C5BC5675487F}"/>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6" name="页脚占位符 5">
            <a:extLst>
              <a:ext uri="{FF2B5EF4-FFF2-40B4-BE49-F238E27FC236}">
                <a16:creationId xmlns:a16="http://schemas.microsoft.com/office/drawing/2014/main" id="{98CAFE77-8C0E-3280-D538-011EC13F89C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55C3FF4-AC53-CF7E-E987-6C7AFCAC8565}"/>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2010331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AF17D-94E3-20A0-083D-81BEA81BC15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DAC8C4BF-F31C-4AB7-5450-CAC9CCAE14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5106CF58-30DE-B044-2CAB-86AFCC11B4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484309F-B93D-8E8D-56F7-6E65E775751D}"/>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6" name="页脚占位符 5">
            <a:extLst>
              <a:ext uri="{FF2B5EF4-FFF2-40B4-BE49-F238E27FC236}">
                <a16:creationId xmlns:a16="http://schemas.microsoft.com/office/drawing/2014/main" id="{0B1A762B-3DE0-AF9B-B205-53AF6AFBA19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73D2240-C73C-F9B0-CB5A-669FEDA242B3}"/>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2972642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D17170-A1DF-2565-AEC2-0C9D02502B9F}"/>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24386AA-BF6D-3EEC-5D70-00A7EBF75D9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501C8A9-F2FD-1B68-3063-40871DA7938D}"/>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5" name="页脚占位符 4">
            <a:extLst>
              <a:ext uri="{FF2B5EF4-FFF2-40B4-BE49-F238E27FC236}">
                <a16:creationId xmlns:a16="http://schemas.microsoft.com/office/drawing/2014/main" id="{E01240C4-C6DA-AA29-D03D-A71F89D13BA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F2C706-C67A-9252-EEE3-EF31BCEB9AA2}"/>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4272618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7A68E2C-A794-ED27-3B18-B32BC682751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7839DCD-00F0-C814-20A3-45A290AB5325}"/>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49A7070-0125-5B98-83FA-C39984F96AF3}"/>
              </a:ext>
            </a:extLst>
          </p:cNvPr>
          <p:cNvSpPr>
            <a:spLocks noGrp="1"/>
          </p:cNvSpPr>
          <p:nvPr>
            <p:ph type="dt" sz="half" idx="10"/>
          </p:nvPr>
        </p:nvSpPr>
        <p:spPr/>
        <p:txBody>
          <a:bodyPr/>
          <a:lstStyle/>
          <a:p>
            <a:fld id="{B69DCFAC-02AA-7649-93B6-857A8FFC6811}" type="datetimeFigureOut">
              <a:rPr kumimoji="1" lang="zh-CN" altLang="en-US" smtClean="0"/>
              <a:t>2025/4/7</a:t>
            </a:fld>
            <a:endParaRPr kumimoji="1" lang="zh-CN" altLang="en-US"/>
          </a:p>
        </p:txBody>
      </p:sp>
      <p:sp>
        <p:nvSpPr>
          <p:cNvPr id="5" name="页脚占位符 4">
            <a:extLst>
              <a:ext uri="{FF2B5EF4-FFF2-40B4-BE49-F238E27FC236}">
                <a16:creationId xmlns:a16="http://schemas.microsoft.com/office/drawing/2014/main" id="{50A412AB-CCEA-4532-FEAF-093E1933FE0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E2440DC-78F6-86C1-1E36-B7BB69A7F629}"/>
              </a:ext>
            </a:extLst>
          </p:cNvPr>
          <p:cNvSpPr>
            <a:spLocks noGrp="1"/>
          </p:cNvSpPr>
          <p:nvPr>
            <p:ph type="sldNum" sz="quarter" idx="12"/>
          </p:nvPr>
        </p:nvSpPr>
        <p:spPr/>
        <p:txBody>
          <a:body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1770045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517122D-2FF5-18A6-5DD0-4D03BB6A02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DF74567-C7F6-3A39-B97C-EAE0CA187E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7540096-0211-3FDB-415B-11C2FB6116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9DCFAC-02AA-7649-93B6-857A8FFC6811}" type="datetimeFigureOut">
              <a:rPr kumimoji="1" lang="zh-CN" altLang="en-US" smtClean="0"/>
              <a:t>2025/4/7</a:t>
            </a:fld>
            <a:endParaRPr kumimoji="1" lang="zh-CN" altLang="en-US"/>
          </a:p>
        </p:txBody>
      </p:sp>
      <p:sp>
        <p:nvSpPr>
          <p:cNvPr id="5" name="页脚占位符 4">
            <a:extLst>
              <a:ext uri="{FF2B5EF4-FFF2-40B4-BE49-F238E27FC236}">
                <a16:creationId xmlns:a16="http://schemas.microsoft.com/office/drawing/2014/main" id="{B07CB2EC-F81C-C597-078B-5FBA09680F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2CFC1AE3-D9B5-D4B1-D502-B34FDD6FAA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1B5010-99B1-2F4E-BB83-0DE84155B080}" type="slidenum">
              <a:rPr kumimoji="1" lang="zh-CN" altLang="en-US" smtClean="0"/>
              <a:t>‹#›</a:t>
            </a:fld>
            <a:endParaRPr kumimoji="1" lang="zh-CN" altLang="en-US"/>
          </a:p>
        </p:txBody>
      </p:sp>
    </p:spTree>
    <p:extLst>
      <p:ext uri="{BB962C8B-B14F-4D97-AF65-F5344CB8AC3E}">
        <p14:creationId xmlns:p14="http://schemas.microsoft.com/office/powerpoint/2010/main" val="3559591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4.xml"/><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5.xml"/><Relationship Id="rId7"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8D58CAC-A233-F301-2052-A7341E1C1C11}"/>
              </a:ext>
            </a:extLst>
          </p:cNvPr>
          <p:cNvSpPr/>
          <p:nvPr/>
        </p:nvSpPr>
        <p:spPr>
          <a:xfrm>
            <a:off x="0" y="-3743"/>
            <a:ext cx="1219413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zh-CN" altLang="en-US"/>
          </a:p>
        </p:txBody>
      </p:sp>
      <p:pic>
        <p:nvPicPr>
          <p:cNvPr id="1026" name="Picture 2" descr="Cover of Nature Methods Volume 18 Issue 1. (Image: Ludvig Larsson, Natalie Stakenborg, Joakim Lundeberg and Guy Boeckxstaens Cover Design: Thomas Phillips)">
            <a:extLst>
              <a:ext uri="{FF2B5EF4-FFF2-40B4-BE49-F238E27FC236}">
                <a16:creationId xmlns:a16="http://schemas.microsoft.com/office/drawing/2014/main" id="{BD9AD3A6-33D8-8EED-6F52-46F8F2898C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58" t="30476"/>
          <a:stretch/>
        </p:blipFill>
        <p:spPr bwMode="auto">
          <a:xfrm>
            <a:off x="8853187" y="3726032"/>
            <a:ext cx="3136892" cy="3081473"/>
          </a:xfrm>
          <a:prstGeom prst="rect">
            <a:avLst/>
          </a:prstGeom>
          <a:noFill/>
          <a:extLst>
            <a:ext uri="{909E8E84-426E-40DD-AFC4-6F175D3DCCD1}">
              <a14:hiddenFill xmlns:a14="http://schemas.microsoft.com/office/drawing/2010/main">
                <a:solidFill>
                  <a:srgbClr val="FFFFFF"/>
                </a:solidFill>
              </a14:hiddenFill>
            </a:ext>
          </a:extLst>
        </p:spPr>
      </p:pic>
      <p:sp>
        <p:nvSpPr>
          <p:cNvPr id="3" name="副标题 2">
            <a:extLst>
              <a:ext uri="{FF2B5EF4-FFF2-40B4-BE49-F238E27FC236}">
                <a16:creationId xmlns:a16="http://schemas.microsoft.com/office/drawing/2014/main" id="{599A524C-2212-08AA-B719-1F0B1CC867B1}"/>
              </a:ext>
            </a:extLst>
          </p:cNvPr>
          <p:cNvSpPr>
            <a:spLocks noGrp="1"/>
          </p:cNvSpPr>
          <p:nvPr>
            <p:ph type="subTitle" idx="1"/>
          </p:nvPr>
        </p:nvSpPr>
        <p:spPr>
          <a:xfrm>
            <a:off x="3375478" y="4404729"/>
            <a:ext cx="5441043" cy="1547101"/>
          </a:xfrm>
        </p:spPr>
        <p:txBody>
          <a:bodyPr>
            <a:normAutofit/>
          </a:bodyPr>
          <a:lstStyle/>
          <a:p>
            <a:pPr>
              <a:lnSpc>
                <a:spcPct val="100000"/>
              </a:lnSpc>
            </a:pPr>
            <a:r>
              <a:rPr kumimoji="1" lang="en-US" altLang="zh-CN"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17</a:t>
            </a:r>
            <a:r>
              <a:rPr kumimoji="1" lang="en-US" altLang="zh-CN" sz="2000" baseline="30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th</a:t>
            </a:r>
            <a:r>
              <a:rPr kumimoji="1" lang="zh-CN" altLang="en-US"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 </a:t>
            </a:r>
            <a:r>
              <a:rPr kumimoji="1" lang="en-US" altLang="zh-CN"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Group</a:t>
            </a:r>
          </a:p>
          <a:p>
            <a:pPr>
              <a:lnSpc>
                <a:spcPct val="100000"/>
              </a:lnSpc>
            </a:pPr>
            <a:r>
              <a:rPr kumimoji="1" lang="zh-CN" altLang="en-US"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 </a:t>
            </a:r>
            <a:r>
              <a:rPr kumimoji="1" lang="en-US" altLang="zh-CN" sz="2000" dirty="0" err="1">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Chuyu</a:t>
            </a:r>
            <a:r>
              <a:rPr kumimoji="1" lang="en-US" altLang="zh-CN"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 QIAO,</a:t>
            </a:r>
            <a:r>
              <a:rPr kumimoji="1" lang="zh-CN" altLang="en-US"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 </a:t>
            </a:r>
            <a:r>
              <a:rPr kumimoji="1" lang="en-US" altLang="zh-CN"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Tianyu CHEN,</a:t>
            </a:r>
            <a:r>
              <a:rPr kumimoji="1" lang="zh-CN" altLang="en-US"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 </a:t>
            </a:r>
            <a:r>
              <a:rPr kumimoji="1" lang="en-US" altLang="zh-CN"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Hanyi WANG</a:t>
            </a:r>
          </a:p>
          <a:p>
            <a:pPr>
              <a:lnSpc>
                <a:spcPct val="100000"/>
              </a:lnSpc>
            </a:pPr>
            <a:r>
              <a:rPr kumimoji="1" lang="en-US" altLang="zh-CN"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April 8</a:t>
            </a:r>
            <a:r>
              <a:rPr kumimoji="1" lang="en-US" altLang="zh-CN" sz="2000" baseline="30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th</a:t>
            </a:r>
            <a:r>
              <a:rPr kumimoji="1" lang="en-US" altLang="zh-CN"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rPr>
              <a:t>, 2025</a:t>
            </a:r>
            <a:endParaRPr kumimoji="1" lang="zh-CN" altLang="en-US" sz="2000" dirty="0">
              <a:solidFill>
                <a:schemeClr val="bg1"/>
              </a:solidFill>
              <a:latin typeface="Microsoft YaHei" panose="020B0503020204020204" pitchFamily="34" charset="-122"/>
              <a:ea typeface="Microsoft YaHei" panose="020B0503020204020204" pitchFamily="34" charset="-122"/>
              <a:cs typeface="Yuppy SC" panose="020F0603040207020204" pitchFamily="34" charset="-122"/>
            </a:endParaRPr>
          </a:p>
        </p:txBody>
      </p:sp>
      <p:sp>
        <p:nvSpPr>
          <p:cNvPr id="2" name="标题 1">
            <a:extLst>
              <a:ext uri="{FF2B5EF4-FFF2-40B4-BE49-F238E27FC236}">
                <a16:creationId xmlns:a16="http://schemas.microsoft.com/office/drawing/2014/main" id="{5692E783-1900-B14E-47E1-420F7D4EBD03}"/>
              </a:ext>
            </a:extLst>
          </p:cNvPr>
          <p:cNvSpPr>
            <a:spLocks noGrp="1"/>
          </p:cNvSpPr>
          <p:nvPr>
            <p:ph type="ctrTitle"/>
          </p:nvPr>
        </p:nvSpPr>
        <p:spPr>
          <a:xfrm>
            <a:off x="490548" y="1620728"/>
            <a:ext cx="11208773" cy="1863523"/>
          </a:xfrm>
        </p:spPr>
        <p:txBody>
          <a:bodyPr>
            <a:normAutofit/>
          </a:bodyPr>
          <a:lstStyle/>
          <a:p>
            <a:pPr>
              <a:lnSpc>
                <a:spcPct val="100000"/>
              </a:lnSpc>
            </a:pPr>
            <a:r>
              <a:rPr kumimoji="1" lang="en" altLang="zh-CN" sz="4800" b="1" dirty="0">
                <a:solidFill>
                  <a:schemeClr val="bg1"/>
                </a:solidFill>
                <a:latin typeface="Arial" panose="020B0604020202020204" pitchFamily="34" charset="0"/>
                <a:ea typeface="Microsoft YaHei" panose="020B0503020204020204" pitchFamily="34" charset="-122"/>
                <a:cs typeface="Arial" panose="020B0604020202020204" pitchFamily="34" charset="0"/>
              </a:rPr>
              <a:t>Gene differential expression analysis based on spatial transcriptome data</a:t>
            </a:r>
            <a:endParaRPr kumimoji="1" lang="zh-CN" altLang="en-US" sz="4800" b="1" dirty="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spTree>
    <p:extLst>
      <p:ext uri="{BB962C8B-B14F-4D97-AF65-F5344CB8AC3E}">
        <p14:creationId xmlns:p14="http://schemas.microsoft.com/office/powerpoint/2010/main" val="46985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9C3C6F-990C-7A35-7DC4-E2954FC8F1BD}"/>
              </a:ext>
            </a:extLst>
          </p:cNvPr>
          <p:cNvSpPr>
            <a:spLocks noGrp="1"/>
          </p:cNvSpPr>
          <p:nvPr>
            <p:ph type="title"/>
          </p:nvPr>
        </p:nvSpPr>
        <p:spPr>
          <a:xfrm>
            <a:off x="356447" y="197132"/>
            <a:ext cx="10813026" cy="711320"/>
          </a:xfrm>
        </p:spPr>
        <p:txBody>
          <a:bodyPr>
            <a:noAutofit/>
          </a:bodyPr>
          <a:lstStyle/>
          <a:p>
            <a:r>
              <a:rPr kumimoji="1" lang="en" altLang="zh-CN" sz="2800" dirty="0">
                <a:latin typeface="Arial" panose="020B0604020202020204" pitchFamily="34" charset="0"/>
                <a:cs typeface="Arial" panose="020B0604020202020204" pitchFamily="34" charset="0"/>
              </a:rPr>
              <a:t>The brain has spatial-level differences in gene expression</a:t>
            </a:r>
            <a:endParaRPr kumimoji="1" lang="zh-CN" altLang="en-US" sz="2800" dirty="0">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828954DC-7731-B5ED-198D-68E6D2CA993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049" name="图片 5">
            <a:extLst>
              <a:ext uri="{FF2B5EF4-FFF2-40B4-BE49-F238E27FC236}">
                <a16:creationId xmlns:a16="http://schemas.microsoft.com/office/drawing/2014/main" id="{F9BF9980-4DC3-3029-A567-913004220A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822" y="1655414"/>
            <a:ext cx="4914900" cy="4191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6109CA34-FEED-789D-2065-BDD34F8A7562}"/>
              </a:ext>
            </a:extLst>
          </p:cNvPr>
          <p:cNvSpPr>
            <a:spLocks noChangeArrowheads="1"/>
          </p:cNvSpPr>
          <p:nvPr/>
        </p:nvSpPr>
        <p:spPr bwMode="auto">
          <a:xfrm>
            <a:off x="0" y="4648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descr="卡通人物&#10;&#10;AI 生成的内容可能不正确。">
            <a:extLst>
              <a:ext uri="{FF2B5EF4-FFF2-40B4-BE49-F238E27FC236}">
                <a16:creationId xmlns:a16="http://schemas.microsoft.com/office/drawing/2014/main" id="{A6DFA940-D9D2-EA4A-3C73-1701D32D3600}"/>
              </a:ext>
            </a:extLst>
          </p:cNvPr>
          <p:cNvPicPr>
            <a:picLocks noChangeAspect="1"/>
          </p:cNvPicPr>
          <p:nvPr/>
        </p:nvPicPr>
        <p:blipFill>
          <a:blip r:embed="rId4"/>
          <a:srcRect l="4200" b="2661"/>
          <a:stretch/>
        </p:blipFill>
        <p:spPr>
          <a:xfrm rot="5400000">
            <a:off x="6205414" y="1407808"/>
            <a:ext cx="1729195" cy="2356240"/>
          </a:xfrm>
          <a:prstGeom prst="rect">
            <a:avLst/>
          </a:prstGeom>
        </p:spPr>
      </p:pic>
      <p:pic>
        <p:nvPicPr>
          <p:cNvPr id="24" name="图片 23" descr="图表&#10;&#10;AI 生成的内容可能不正确。">
            <a:extLst>
              <a:ext uri="{FF2B5EF4-FFF2-40B4-BE49-F238E27FC236}">
                <a16:creationId xmlns:a16="http://schemas.microsoft.com/office/drawing/2014/main" id="{34F95F3E-711C-B2D0-26E7-2B52031EC19A}"/>
              </a:ext>
            </a:extLst>
          </p:cNvPr>
          <p:cNvPicPr>
            <a:picLocks noChangeAspect="1"/>
          </p:cNvPicPr>
          <p:nvPr/>
        </p:nvPicPr>
        <p:blipFill>
          <a:blip r:embed="rId5"/>
          <a:stretch>
            <a:fillRect/>
          </a:stretch>
        </p:blipFill>
        <p:spPr>
          <a:xfrm>
            <a:off x="8598802" y="1037200"/>
            <a:ext cx="3306831" cy="5455674"/>
          </a:xfrm>
          <a:prstGeom prst="rect">
            <a:avLst/>
          </a:prstGeom>
        </p:spPr>
      </p:pic>
      <p:pic>
        <p:nvPicPr>
          <p:cNvPr id="26" name="图片 25" descr="图表&#10;&#10;AI 生成的内容可能不正确。">
            <a:extLst>
              <a:ext uri="{FF2B5EF4-FFF2-40B4-BE49-F238E27FC236}">
                <a16:creationId xmlns:a16="http://schemas.microsoft.com/office/drawing/2014/main" id="{F1698E31-7A27-4774-0444-28F61744A68C}"/>
              </a:ext>
            </a:extLst>
          </p:cNvPr>
          <p:cNvPicPr>
            <a:picLocks noChangeAspect="1"/>
          </p:cNvPicPr>
          <p:nvPr/>
        </p:nvPicPr>
        <p:blipFill>
          <a:blip r:embed="rId6"/>
          <a:stretch>
            <a:fillRect/>
          </a:stretch>
        </p:blipFill>
        <p:spPr>
          <a:xfrm>
            <a:off x="5585075" y="4193364"/>
            <a:ext cx="3088351" cy="1184255"/>
          </a:xfrm>
          <a:prstGeom prst="rect">
            <a:avLst/>
          </a:prstGeom>
        </p:spPr>
      </p:pic>
      <p:sp>
        <p:nvSpPr>
          <p:cNvPr id="27" name="矩形 26">
            <a:extLst>
              <a:ext uri="{FF2B5EF4-FFF2-40B4-BE49-F238E27FC236}">
                <a16:creationId xmlns:a16="http://schemas.microsoft.com/office/drawing/2014/main" id="{27F03460-54D8-D52A-2072-C5EA9909FC79}"/>
              </a:ext>
            </a:extLst>
          </p:cNvPr>
          <p:cNvSpPr/>
          <p:nvPr/>
        </p:nvSpPr>
        <p:spPr>
          <a:xfrm>
            <a:off x="5585075" y="1655414"/>
            <a:ext cx="510925" cy="2766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7A708BB9-CDEA-23C6-AC49-A1FE7C0A598E}"/>
              </a:ext>
            </a:extLst>
          </p:cNvPr>
          <p:cNvSpPr txBox="1"/>
          <p:nvPr/>
        </p:nvSpPr>
        <p:spPr>
          <a:xfrm>
            <a:off x="7264073" y="6297180"/>
            <a:ext cx="2669458" cy="261610"/>
          </a:xfrm>
          <a:prstGeom prst="rect">
            <a:avLst/>
          </a:prstGeom>
          <a:noFill/>
        </p:spPr>
        <p:txBody>
          <a:bodyPr wrap="square" rtlCol="0">
            <a:spAutoFit/>
          </a:bodyPr>
          <a:lstStyle/>
          <a:p>
            <a:r>
              <a:rPr lang="en" altLang="zh-CN" sz="1100" b="0" i="0" u="none" strike="noStrike" dirty="0">
                <a:solidFill>
                  <a:schemeClr val="bg1">
                    <a:lumMod val="65000"/>
                  </a:schemeClr>
                </a:solidFill>
                <a:effectLst/>
                <a:latin typeface="Arial" panose="020B0604020202020204" pitchFamily="34" charset="0"/>
                <a:cs typeface="Arial" panose="020B0604020202020204" pitchFamily="34" charset="0"/>
              </a:rPr>
              <a:t>Ortiz C et al., Annu Rev </a:t>
            </a:r>
            <a:r>
              <a:rPr lang="en" altLang="zh-CN" sz="1100" b="0" i="0" u="none" strike="noStrike" dirty="0" err="1">
                <a:solidFill>
                  <a:schemeClr val="bg1">
                    <a:lumMod val="65000"/>
                  </a:schemeClr>
                </a:solidFill>
                <a:effectLst/>
                <a:latin typeface="Arial" panose="020B0604020202020204" pitchFamily="34" charset="0"/>
                <a:cs typeface="Arial" panose="020B0604020202020204" pitchFamily="34" charset="0"/>
              </a:rPr>
              <a:t>Neurosci</a:t>
            </a:r>
            <a:r>
              <a:rPr lang="en" altLang="zh-CN" sz="1100" b="0" i="0" u="none" strike="noStrike" dirty="0">
                <a:solidFill>
                  <a:schemeClr val="bg1">
                    <a:lumMod val="65000"/>
                  </a:schemeClr>
                </a:solidFill>
                <a:effectLst/>
                <a:latin typeface="Arial" panose="020B0604020202020204" pitchFamily="34" charset="0"/>
                <a:cs typeface="Arial" panose="020B0604020202020204" pitchFamily="34" charset="0"/>
              </a:rPr>
              <a:t>., 2021</a:t>
            </a:r>
            <a:endParaRPr kumimoji="1" lang="zh-CN" altLang="en-US" sz="11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9096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E372B-FA54-578D-B07B-A8D6CB6650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B3E6715-5445-CD2D-140B-DA0D0E5F5690}"/>
              </a:ext>
            </a:extLst>
          </p:cNvPr>
          <p:cNvSpPr>
            <a:spLocks noGrp="1"/>
          </p:cNvSpPr>
          <p:nvPr>
            <p:ph type="title"/>
          </p:nvPr>
        </p:nvSpPr>
        <p:spPr>
          <a:xfrm>
            <a:off x="339822" y="197132"/>
            <a:ext cx="10813026" cy="711320"/>
          </a:xfrm>
        </p:spPr>
        <p:txBody>
          <a:bodyPr>
            <a:noAutofit/>
          </a:bodyPr>
          <a:lstStyle/>
          <a:p>
            <a:r>
              <a:rPr lang="en" altLang="zh-CN" sz="2400" dirty="0">
                <a:solidFill>
                  <a:srgbClr val="000000"/>
                </a:solidFill>
                <a:effectLst/>
                <a:latin typeface="Arial" panose="020B0604020202020204" pitchFamily="34" charset="0"/>
                <a:cs typeface="Arial" panose="020B0604020202020204" pitchFamily="34" charset="0"/>
              </a:rPr>
              <a:t>Improvement of the spot clustering and annotation for spatial transcriptome</a:t>
            </a:r>
            <a:endParaRPr lang="en" altLang="zh-CN" sz="1400" dirty="0">
              <a:latin typeface="Arial" panose="020B0604020202020204" pitchFamily="34" charset="0"/>
              <a:cs typeface="Arial" panose="020B0604020202020204" pitchFamily="34" charset="0"/>
            </a:endParaRPr>
          </a:p>
        </p:txBody>
      </p:sp>
      <p:sp>
        <p:nvSpPr>
          <p:cNvPr id="28" name="文本框 27">
            <a:extLst>
              <a:ext uri="{FF2B5EF4-FFF2-40B4-BE49-F238E27FC236}">
                <a16:creationId xmlns:a16="http://schemas.microsoft.com/office/drawing/2014/main" id="{13B72315-8A03-DA69-903F-2938AD7E8CFF}"/>
              </a:ext>
            </a:extLst>
          </p:cNvPr>
          <p:cNvSpPr txBox="1"/>
          <p:nvPr/>
        </p:nvSpPr>
        <p:spPr>
          <a:xfrm>
            <a:off x="1074688" y="6309072"/>
            <a:ext cx="2669458" cy="261610"/>
          </a:xfrm>
          <a:prstGeom prst="rect">
            <a:avLst/>
          </a:prstGeom>
          <a:noFill/>
        </p:spPr>
        <p:txBody>
          <a:bodyPr wrap="square" rtlCol="0">
            <a:spAutoFit/>
          </a:bodyPr>
          <a:lstStyle/>
          <a:p>
            <a:r>
              <a:rPr lang="en" altLang="zh-CN" sz="1100" b="0" i="0" u="none" strike="noStrike" dirty="0">
                <a:solidFill>
                  <a:schemeClr val="bg1">
                    <a:lumMod val="65000"/>
                  </a:schemeClr>
                </a:solidFill>
                <a:effectLst/>
                <a:latin typeface="Arial" panose="020B0604020202020204" pitchFamily="34" charset="0"/>
                <a:cs typeface="Arial" panose="020B0604020202020204" pitchFamily="34" charset="0"/>
              </a:rPr>
              <a:t>Ortiz C et al., Annu Rev </a:t>
            </a:r>
            <a:r>
              <a:rPr lang="en" altLang="zh-CN" sz="1100" b="0" i="0" u="none" strike="noStrike" dirty="0" err="1">
                <a:solidFill>
                  <a:schemeClr val="bg1">
                    <a:lumMod val="65000"/>
                  </a:schemeClr>
                </a:solidFill>
                <a:effectLst/>
                <a:latin typeface="Arial" panose="020B0604020202020204" pitchFamily="34" charset="0"/>
                <a:cs typeface="Arial" panose="020B0604020202020204" pitchFamily="34" charset="0"/>
              </a:rPr>
              <a:t>Neurosci</a:t>
            </a:r>
            <a:r>
              <a:rPr lang="en" altLang="zh-CN" sz="1100" b="0" i="0" u="none" strike="noStrike" dirty="0">
                <a:solidFill>
                  <a:schemeClr val="bg1">
                    <a:lumMod val="65000"/>
                  </a:schemeClr>
                </a:solidFill>
                <a:effectLst/>
                <a:latin typeface="Arial" panose="020B0604020202020204" pitchFamily="34" charset="0"/>
                <a:cs typeface="Arial" panose="020B0604020202020204" pitchFamily="34" charset="0"/>
              </a:rPr>
              <a:t>., 2021</a:t>
            </a:r>
            <a:endParaRPr kumimoji="1" lang="zh-CN" altLang="en-US" sz="1100" dirty="0">
              <a:solidFill>
                <a:schemeClr val="bg1">
                  <a:lumMod val="65000"/>
                </a:schemeClr>
              </a:solidFill>
              <a:latin typeface="Arial" panose="020B0604020202020204" pitchFamily="34" charset="0"/>
              <a:cs typeface="Arial" panose="020B0604020202020204" pitchFamily="34" charset="0"/>
            </a:endParaRPr>
          </a:p>
        </p:txBody>
      </p:sp>
      <p:pic>
        <p:nvPicPr>
          <p:cNvPr id="6" name="图片 5" descr="图示&#10;&#10;AI 生成的内容可能不正确。">
            <a:extLst>
              <a:ext uri="{FF2B5EF4-FFF2-40B4-BE49-F238E27FC236}">
                <a16:creationId xmlns:a16="http://schemas.microsoft.com/office/drawing/2014/main" id="{7DD29DA8-9229-C4CC-F60E-F7D0FF615B57}"/>
              </a:ext>
            </a:extLst>
          </p:cNvPr>
          <p:cNvPicPr>
            <a:picLocks noChangeAspect="1"/>
          </p:cNvPicPr>
          <p:nvPr/>
        </p:nvPicPr>
        <p:blipFill>
          <a:blip r:embed="rId3"/>
          <a:srcRect t="13769" r="43504"/>
          <a:stretch/>
        </p:blipFill>
        <p:spPr>
          <a:xfrm>
            <a:off x="633251" y="1105585"/>
            <a:ext cx="3610233" cy="2323416"/>
          </a:xfrm>
          <a:prstGeom prst="rect">
            <a:avLst/>
          </a:prstGeom>
        </p:spPr>
      </p:pic>
      <p:pic>
        <p:nvPicPr>
          <p:cNvPr id="17" name="图片 16" descr="图示&#10;&#10;AI 生成的内容可能不正确。">
            <a:extLst>
              <a:ext uri="{FF2B5EF4-FFF2-40B4-BE49-F238E27FC236}">
                <a16:creationId xmlns:a16="http://schemas.microsoft.com/office/drawing/2014/main" id="{A51D1939-C9D9-B991-80CF-07F970AEDE90}"/>
              </a:ext>
            </a:extLst>
          </p:cNvPr>
          <p:cNvPicPr>
            <a:picLocks noChangeAspect="1"/>
          </p:cNvPicPr>
          <p:nvPr/>
        </p:nvPicPr>
        <p:blipFill>
          <a:blip r:embed="rId3"/>
          <a:srcRect l="56496"/>
          <a:stretch/>
        </p:blipFill>
        <p:spPr>
          <a:xfrm>
            <a:off x="1059437" y="3626134"/>
            <a:ext cx="2699703" cy="2616610"/>
          </a:xfrm>
          <a:prstGeom prst="rect">
            <a:avLst/>
          </a:prstGeom>
        </p:spPr>
      </p:pic>
      <p:pic>
        <p:nvPicPr>
          <p:cNvPr id="3" name="图片 2">
            <a:extLst>
              <a:ext uri="{FF2B5EF4-FFF2-40B4-BE49-F238E27FC236}">
                <a16:creationId xmlns:a16="http://schemas.microsoft.com/office/drawing/2014/main" id="{8249CA50-310F-0D1E-E5A2-132A658F34DB}"/>
              </a:ext>
            </a:extLst>
          </p:cNvPr>
          <p:cNvPicPr>
            <a:picLocks noChangeAspect="1"/>
          </p:cNvPicPr>
          <p:nvPr/>
        </p:nvPicPr>
        <p:blipFill>
          <a:blip r:embed="rId4"/>
          <a:stretch>
            <a:fillRect/>
          </a:stretch>
        </p:blipFill>
        <p:spPr>
          <a:xfrm>
            <a:off x="5168336" y="775932"/>
            <a:ext cx="6393531" cy="1940765"/>
          </a:xfrm>
          <a:prstGeom prst="rect">
            <a:avLst/>
          </a:prstGeom>
          <a:effectLst/>
        </p:spPr>
      </p:pic>
      <p:pic>
        <p:nvPicPr>
          <p:cNvPr id="4" name="图片 3">
            <a:extLst>
              <a:ext uri="{FF2B5EF4-FFF2-40B4-BE49-F238E27FC236}">
                <a16:creationId xmlns:a16="http://schemas.microsoft.com/office/drawing/2014/main" id="{86F0B8CA-1D60-AE4F-C448-170261AC1185}"/>
              </a:ext>
            </a:extLst>
          </p:cNvPr>
          <p:cNvPicPr>
            <a:picLocks noChangeAspect="1"/>
          </p:cNvPicPr>
          <p:nvPr/>
        </p:nvPicPr>
        <p:blipFill>
          <a:blip r:embed="rId5"/>
          <a:stretch>
            <a:fillRect/>
          </a:stretch>
        </p:blipFill>
        <p:spPr>
          <a:xfrm>
            <a:off x="5790206" y="2756453"/>
            <a:ext cx="5149789" cy="3730792"/>
          </a:xfrm>
          <a:prstGeom prst="rect">
            <a:avLst/>
          </a:prstGeom>
          <a:effectLst/>
        </p:spPr>
      </p:pic>
    </p:spTree>
    <p:extLst>
      <p:ext uri="{BB962C8B-B14F-4D97-AF65-F5344CB8AC3E}">
        <p14:creationId xmlns:p14="http://schemas.microsoft.com/office/powerpoint/2010/main" val="70672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 name="图片 20"/>
          <p:cNvPicPr>
            <a:picLocks noChangeAspect="1"/>
          </p:cNvPicPr>
          <p:nvPr/>
        </p:nvPicPr>
        <p:blipFill>
          <a:blip r:embed="rId4"/>
          <a:srcRect l="4093" t="3463" r="13082" b="23463"/>
          <a:stretch>
            <a:fillRect/>
          </a:stretch>
        </p:blipFill>
        <p:spPr>
          <a:xfrm>
            <a:off x="4241800" y="5445125"/>
            <a:ext cx="5803900" cy="960755"/>
          </a:xfrm>
          <a:prstGeom prst="rect">
            <a:avLst/>
          </a:prstGeom>
          <a:effectLst>
            <a:outerShdw blurRad="50800" dist="38100" dir="2700000" algn="tl" rotWithShape="0">
              <a:prstClr val="black">
                <a:alpha val="40000"/>
              </a:prstClr>
            </a:outerShdw>
          </a:effectLst>
        </p:spPr>
      </p:pic>
      <p:sp>
        <p:nvSpPr>
          <p:cNvPr id="8" name="文本框 7"/>
          <p:cNvSpPr txBox="1"/>
          <p:nvPr/>
        </p:nvSpPr>
        <p:spPr>
          <a:xfrm>
            <a:off x="323850" y="384810"/>
            <a:ext cx="7219950" cy="460375"/>
          </a:xfrm>
          <a:prstGeom prst="rect">
            <a:avLst/>
          </a:prstGeom>
        </p:spPr>
        <p:txBody>
          <a:bodyPr wrap="square">
            <a:spAutoFit/>
          </a:bodyPr>
          <a:lstStyle/>
          <a:p>
            <a:pPr marL="0" indent="0">
              <a:spcBef>
                <a:spcPct val="0"/>
              </a:spcBef>
              <a:spcAft>
                <a:spcPts val="400"/>
              </a:spcAft>
            </a:pPr>
            <a:r>
              <a:rPr lang="en-US" altLang="zh-CN" sz="2400" b="1" i="0">
                <a:solidFill>
                  <a:srgbClr val="222222"/>
                </a:solidFill>
                <a:latin typeface="Arial" panose="020B0604020202020204" pitchFamily="34" charset="0"/>
                <a:ea typeface="-apple-system"/>
                <a:cs typeface="Arial" panose="020B0604020202020204" pitchFamily="34" charset="0"/>
              </a:rPr>
              <a:t>Modeling gene expression and spatial gradients</a:t>
            </a:r>
          </a:p>
        </p:txBody>
      </p:sp>
      <p:pic>
        <p:nvPicPr>
          <p:cNvPr id="9" name="图片 8"/>
          <p:cNvPicPr>
            <a:picLocks noChangeAspect="1"/>
          </p:cNvPicPr>
          <p:nvPr/>
        </p:nvPicPr>
        <p:blipFill>
          <a:blip r:embed="rId5"/>
          <a:stretch>
            <a:fillRect/>
          </a:stretch>
        </p:blipFill>
        <p:spPr>
          <a:xfrm>
            <a:off x="4743450" y="963930"/>
            <a:ext cx="4800600" cy="542925"/>
          </a:xfrm>
          <a:prstGeom prst="rect">
            <a:avLst/>
          </a:prstGeom>
          <a:effectLst>
            <a:outerShdw blurRad="50800" dist="38100" dir="2700000" algn="tl" rotWithShape="0">
              <a:prstClr val="black">
                <a:alpha val="40000"/>
              </a:prstClr>
            </a:outerShdw>
          </a:effectLst>
        </p:spPr>
      </p:pic>
      <p:pic>
        <p:nvPicPr>
          <p:cNvPr id="12" name="图片 11"/>
          <p:cNvPicPr>
            <a:picLocks noChangeAspect="1"/>
          </p:cNvPicPr>
          <p:nvPr/>
        </p:nvPicPr>
        <p:blipFill>
          <a:blip r:embed="rId6"/>
          <a:stretch>
            <a:fillRect/>
          </a:stretch>
        </p:blipFill>
        <p:spPr>
          <a:xfrm>
            <a:off x="4528820" y="1960245"/>
            <a:ext cx="5229225" cy="1152525"/>
          </a:xfrm>
          <a:prstGeom prst="rect">
            <a:avLst/>
          </a:prstGeom>
          <a:effectLst>
            <a:outerShdw blurRad="50800" dist="38100" dir="2700000" algn="tl" rotWithShape="0">
              <a:prstClr val="black">
                <a:alpha val="40000"/>
              </a:prstClr>
            </a:outerShdw>
          </a:effectLst>
        </p:spPr>
      </p:pic>
      <p:pic>
        <p:nvPicPr>
          <p:cNvPr id="13" name="图片 12"/>
          <p:cNvPicPr>
            <a:picLocks noChangeAspect="1"/>
          </p:cNvPicPr>
          <p:nvPr/>
        </p:nvPicPr>
        <p:blipFill>
          <a:blip r:embed="rId7"/>
          <a:stretch>
            <a:fillRect/>
          </a:stretch>
        </p:blipFill>
        <p:spPr>
          <a:xfrm>
            <a:off x="4923790" y="3627120"/>
            <a:ext cx="4438650" cy="476250"/>
          </a:xfrm>
          <a:prstGeom prst="rect">
            <a:avLst/>
          </a:prstGeom>
          <a:effectLst>
            <a:outerShdw blurRad="50800" dist="38100" dir="2700000" algn="tl" rotWithShape="0">
              <a:prstClr val="black">
                <a:alpha val="40000"/>
              </a:prstClr>
            </a:outerShdw>
          </a:effectLst>
        </p:spPr>
      </p:pic>
      <p:sp>
        <p:nvSpPr>
          <p:cNvPr id="22" name="文本框 21"/>
          <p:cNvSpPr txBox="1"/>
          <p:nvPr/>
        </p:nvSpPr>
        <p:spPr>
          <a:xfrm>
            <a:off x="494665" y="955675"/>
            <a:ext cx="3585210" cy="706755"/>
          </a:xfrm>
          <a:prstGeom prst="rect">
            <a:avLst/>
          </a:prstGeom>
        </p:spPr>
        <p:txBody>
          <a:bodyPr wrap="square">
            <a:spAutoFit/>
            <a:extLst>
              <a:ext uri="{4A0BC546-FE56-4ADE-93B0-CB8AF2F6F144}">
                <wpsdc:textFrameExt xmlns:wpsdc="http://www.wps.cn/officeDocument/2022/drawingmlCustomData" xmlns="" type="text"/>
              </a:ext>
            </a:extLst>
          </a:bodyPr>
          <a:lstStyle/>
          <a:p>
            <a:pPr algn="ctr"/>
            <a:r>
              <a:rPr lang="en-US" altLang="zh-CN" sz="2000" b="1">
                <a:latin typeface="Arial" panose="020B0604020202020204" pitchFamily="34" charset="0"/>
                <a:ea typeface="微软雅黑" panose="020B0503020204020204" charset="-122"/>
              </a:rPr>
              <a:t>Input data</a:t>
            </a:r>
          </a:p>
          <a:p>
            <a:pPr algn="ctr"/>
            <a:r>
              <a:rPr lang="en-US" altLang="zh-CN" sz="2000">
                <a:latin typeface="Arial" panose="020B0604020202020204" pitchFamily="34" charset="0"/>
                <a:ea typeface="微软雅黑" panose="020B0503020204020204" charset="-122"/>
              </a:rPr>
              <a:t>gene expression information</a:t>
            </a:r>
          </a:p>
        </p:txBody>
      </p:sp>
      <p:cxnSp>
        <p:nvCxnSpPr>
          <p:cNvPr id="23" name="直接箭头连接符 22"/>
          <p:cNvCxnSpPr>
            <a:stCxn id="9" idx="2"/>
            <a:endCxn id="12" idx="0"/>
          </p:cNvCxnSpPr>
          <p:nvPr/>
        </p:nvCxnSpPr>
        <p:spPr>
          <a:xfrm>
            <a:off x="7143750" y="1506855"/>
            <a:ext cx="0" cy="453390"/>
          </a:xfrm>
          <a:prstGeom prst="straightConnector1">
            <a:avLst/>
          </a:prstGeom>
          <a:ln w="28575">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586105" y="2197100"/>
            <a:ext cx="3585210" cy="1014730"/>
          </a:xfrm>
          <a:prstGeom prst="rect">
            <a:avLst/>
          </a:prstGeom>
        </p:spPr>
        <p:txBody>
          <a:bodyPr wrap="square">
            <a:spAutoFit/>
            <a:extLst>
              <a:ext uri="{4A0BC546-FE56-4ADE-93B0-CB8AF2F6F144}">
                <wpsdc:textFrameExt xmlns:wpsdc="http://www.wps.cn/officeDocument/2022/drawingmlCustomData" xmlns="" type="text"/>
              </a:ext>
            </a:extLst>
          </a:bodyPr>
          <a:lstStyle/>
          <a:p>
            <a:pPr algn="ctr"/>
            <a:r>
              <a:rPr lang="en-US" altLang="zh-CN" sz="2000">
                <a:latin typeface="Arial" panose="020B0604020202020204" pitchFamily="34" charset="0"/>
                <a:ea typeface="微软雅黑" panose="020B0503020204020204" charset="-122"/>
              </a:rPr>
              <a:t>assume the expression functions     have the same pieces for all genes</a:t>
            </a:r>
          </a:p>
        </p:txBody>
      </p:sp>
      <p:pic>
        <p:nvPicPr>
          <p:cNvPr id="28" name="图片 27"/>
          <p:cNvPicPr>
            <a:picLocks noChangeAspect="1"/>
          </p:cNvPicPr>
          <p:nvPr/>
        </p:nvPicPr>
        <p:blipFill>
          <a:blip r:embed="rId8"/>
          <a:srcRect r="68766" b="1034"/>
          <a:stretch>
            <a:fillRect/>
          </a:stretch>
        </p:blipFill>
        <p:spPr>
          <a:xfrm>
            <a:off x="1882140" y="2491740"/>
            <a:ext cx="311785" cy="425450"/>
          </a:xfrm>
          <a:prstGeom prst="rect">
            <a:avLst/>
          </a:prstGeom>
        </p:spPr>
      </p:pic>
      <p:sp>
        <p:nvSpPr>
          <p:cNvPr id="30" name="文本框 29"/>
          <p:cNvSpPr txBox="1"/>
          <p:nvPr/>
        </p:nvSpPr>
        <p:spPr>
          <a:xfrm>
            <a:off x="586105" y="3704590"/>
            <a:ext cx="3585210" cy="398780"/>
          </a:xfrm>
          <a:prstGeom prst="rect">
            <a:avLst/>
          </a:prstGeom>
        </p:spPr>
        <p:txBody>
          <a:bodyPr wrap="square">
            <a:spAutoFit/>
            <a:extLst>
              <a:ext uri="{4A0BC546-FE56-4ADE-93B0-CB8AF2F6F144}">
                <wpsdc:textFrameExt xmlns:wpsdc="http://www.wps.cn/officeDocument/2022/drawingmlCustomData" xmlns="" type="text"/>
              </a:ext>
            </a:extLst>
          </a:bodyPr>
          <a:lstStyle/>
          <a:p>
            <a:pPr algn="ctr"/>
            <a:r>
              <a:rPr lang="en-US" altLang="zh-CN" sz="2000">
                <a:latin typeface="Arial" panose="020B0604020202020204" pitchFamily="34" charset="0"/>
                <a:ea typeface="微软雅黑" panose="020B0503020204020204" charset="-122"/>
              </a:rPr>
              <a:t>gene expression variation</a:t>
            </a:r>
          </a:p>
        </p:txBody>
      </p:sp>
      <p:pic>
        <p:nvPicPr>
          <p:cNvPr id="2" name="图片 1"/>
          <p:cNvPicPr>
            <a:picLocks noChangeAspect="1"/>
          </p:cNvPicPr>
          <p:nvPr/>
        </p:nvPicPr>
        <p:blipFill>
          <a:blip r:embed="rId9"/>
          <a:srcRect t="22165" b="7792"/>
          <a:stretch>
            <a:fillRect/>
          </a:stretch>
        </p:blipFill>
        <p:spPr>
          <a:xfrm>
            <a:off x="4616450" y="4556125"/>
            <a:ext cx="5048250" cy="513715"/>
          </a:xfrm>
          <a:prstGeom prst="rect">
            <a:avLst/>
          </a:prstGeom>
          <a:effectLst>
            <a:outerShdw blurRad="50800" dist="38100" dir="2700000" algn="tl" rotWithShape="0">
              <a:prstClr val="black">
                <a:alpha val="40000"/>
              </a:prstClr>
            </a:outerShdw>
          </a:effectLst>
        </p:spPr>
      </p:pic>
      <p:cxnSp>
        <p:nvCxnSpPr>
          <p:cNvPr id="3" name="直接箭头连接符 2"/>
          <p:cNvCxnSpPr>
            <a:stCxn id="13" idx="2"/>
            <a:endCxn id="2" idx="0"/>
          </p:cNvCxnSpPr>
          <p:nvPr/>
        </p:nvCxnSpPr>
        <p:spPr>
          <a:xfrm flipH="1">
            <a:off x="7140575" y="4103370"/>
            <a:ext cx="2540" cy="452755"/>
          </a:xfrm>
          <a:prstGeom prst="straightConnector1">
            <a:avLst/>
          </a:prstGeom>
          <a:ln w="28575">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4" name="直接箭头连接符 3"/>
          <p:cNvCxnSpPr>
            <a:stCxn id="2" idx="2"/>
            <a:endCxn id="21" idx="0"/>
          </p:cNvCxnSpPr>
          <p:nvPr/>
        </p:nvCxnSpPr>
        <p:spPr>
          <a:xfrm>
            <a:off x="7140575" y="5069840"/>
            <a:ext cx="3175" cy="375285"/>
          </a:xfrm>
          <a:prstGeom prst="straightConnector1">
            <a:avLst/>
          </a:prstGeom>
          <a:ln w="28575">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656590" y="4612640"/>
            <a:ext cx="3585210" cy="398780"/>
          </a:xfrm>
          <a:prstGeom prst="rect">
            <a:avLst/>
          </a:prstGeom>
        </p:spPr>
        <p:txBody>
          <a:bodyPr wrap="square">
            <a:spAutoFit/>
            <a:extLst>
              <a:ext uri="{4A0BC546-FE56-4ADE-93B0-CB8AF2F6F144}">
                <wpsdc:textFrameExt xmlns:wpsdc="http://www.wps.cn/officeDocument/2022/drawingmlCustomData" xmlns="" type="text"/>
              </a:ext>
            </a:extLst>
          </a:bodyPr>
          <a:lstStyle/>
          <a:p>
            <a:pPr algn="ctr"/>
            <a:r>
              <a:rPr lang="en-US" altLang="zh-CN" sz="2000">
                <a:solidFill>
                  <a:schemeClr val="tx1"/>
                </a:solidFill>
                <a:effectLst/>
                <a:sym typeface="+mn-ea"/>
              </a:rPr>
              <a:t>rank(J(f)) = 1</a:t>
            </a:r>
            <a:endParaRPr lang="en-US" altLang="zh-CN" sz="2000">
              <a:solidFill>
                <a:schemeClr val="tx1"/>
              </a:solidFill>
              <a:effectLst/>
              <a:latin typeface="Arial" panose="020B0604020202020204" pitchFamily="34" charset="0"/>
              <a:ea typeface="微软雅黑" panose="020B0503020204020204" charset="-122"/>
              <a:sym typeface="+mn-ea"/>
            </a:endParaRPr>
          </a:p>
        </p:txBody>
      </p:sp>
      <p:sp>
        <p:nvSpPr>
          <p:cNvPr id="5" name="文本框 4"/>
          <p:cNvSpPr txBox="1"/>
          <p:nvPr/>
        </p:nvSpPr>
        <p:spPr>
          <a:xfrm>
            <a:off x="561975" y="5774690"/>
            <a:ext cx="3585210" cy="398780"/>
          </a:xfrm>
          <a:prstGeom prst="rect">
            <a:avLst/>
          </a:prstGeom>
        </p:spPr>
        <p:txBody>
          <a:bodyPr wrap="square">
            <a:spAutoFit/>
            <a:extLst>
              <a:ext uri="{4A0BC546-FE56-4ADE-93B0-CB8AF2F6F144}">
                <wpsdc:textFrameExt xmlns:wpsdc="http://www.wps.cn/officeDocument/2022/drawingmlCustomData" xmlns="" type="text"/>
              </a:ext>
            </a:extLst>
          </a:bodyPr>
          <a:lstStyle/>
          <a:p>
            <a:pPr algn="ctr"/>
            <a:r>
              <a:rPr lang="en-US" altLang="zh-CN" sz="2000">
                <a:solidFill>
                  <a:schemeClr val="tx1"/>
                </a:solidFill>
                <a:effectLst/>
                <a:latin typeface="Arial" panose="020B0604020202020204" pitchFamily="34" charset="0"/>
                <a:ea typeface="微软雅黑" panose="020B0503020204020204" charset="-122"/>
                <a:sym typeface="+mn-ea"/>
              </a:rPr>
              <a:t>location -&gt; area</a:t>
            </a:r>
          </a:p>
        </p:txBody>
      </p:sp>
      <p:cxnSp>
        <p:nvCxnSpPr>
          <p:cNvPr id="10" name="直接箭头连接符 9"/>
          <p:cNvCxnSpPr>
            <a:stCxn id="12" idx="2"/>
            <a:endCxn id="13" idx="0"/>
          </p:cNvCxnSpPr>
          <p:nvPr/>
        </p:nvCxnSpPr>
        <p:spPr>
          <a:xfrm flipH="1">
            <a:off x="7143115" y="3112770"/>
            <a:ext cx="635" cy="514350"/>
          </a:xfrm>
          <a:prstGeom prst="straightConnector1">
            <a:avLst/>
          </a:prstGeom>
          <a:ln w="28575">
            <a:solidFill>
              <a:srgbClr val="C00000"/>
            </a:solidFill>
            <a:tailEnd type="arrow"/>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文本框 7"/>
          <p:cNvSpPr txBox="1"/>
          <p:nvPr/>
        </p:nvSpPr>
        <p:spPr>
          <a:xfrm>
            <a:off x="323850" y="543837"/>
            <a:ext cx="8494395" cy="460375"/>
          </a:xfrm>
          <a:prstGeom prst="rect">
            <a:avLst/>
          </a:prstGeom>
        </p:spPr>
        <p:txBody>
          <a:bodyPr wrap="square">
            <a:spAutoFit/>
          </a:bodyPr>
          <a:lstStyle/>
          <a:p>
            <a:pPr marL="0" indent="0">
              <a:spcBef>
                <a:spcPct val="0"/>
              </a:spcBef>
              <a:spcAft>
                <a:spcPts val="400"/>
              </a:spcAft>
            </a:pPr>
            <a:r>
              <a:rPr lang="en-US" altLang="zh-CN" sz="2400" b="1" i="0">
                <a:solidFill>
                  <a:srgbClr val="222222"/>
                </a:solidFill>
                <a:latin typeface="Arial" panose="020B0604020202020204" pitchFamily="34" charset="0"/>
                <a:ea typeface="-apple-system"/>
                <a:cs typeface="Arial" panose="020B0604020202020204" pitchFamily="34" charset="0"/>
              </a:rPr>
              <a:t>Conservative vector fields and piecewise linear functions</a:t>
            </a:r>
          </a:p>
        </p:txBody>
      </p:sp>
      <p:grpSp>
        <p:nvGrpSpPr>
          <p:cNvPr id="25" name="组合 24"/>
          <p:cNvGrpSpPr/>
          <p:nvPr/>
        </p:nvGrpSpPr>
        <p:grpSpPr>
          <a:xfrm>
            <a:off x="387350" y="1268372"/>
            <a:ext cx="10950575" cy="2584450"/>
            <a:chOff x="610" y="2227"/>
            <a:chExt cx="17245" cy="4070"/>
          </a:xfrm>
        </p:grpSpPr>
        <p:grpSp>
          <p:nvGrpSpPr>
            <p:cNvPr id="14" name="组合 13"/>
            <p:cNvGrpSpPr/>
            <p:nvPr/>
          </p:nvGrpSpPr>
          <p:grpSpPr>
            <a:xfrm>
              <a:off x="610" y="2227"/>
              <a:ext cx="17245" cy="4070"/>
              <a:chOff x="610" y="2455"/>
              <a:chExt cx="17245" cy="4070"/>
            </a:xfrm>
          </p:grpSpPr>
          <p:sp>
            <p:nvSpPr>
              <p:cNvPr id="10" name="文本框 9"/>
              <p:cNvSpPr txBox="1"/>
              <p:nvPr/>
            </p:nvSpPr>
            <p:spPr>
              <a:xfrm>
                <a:off x="610" y="2455"/>
                <a:ext cx="17245" cy="4070"/>
              </a:xfrm>
              <a:prstGeom prst="rect">
                <a:avLst/>
              </a:prstGeom>
              <a:noFill/>
            </p:spPr>
            <p:txBody>
              <a:bodyPr wrap="square" rtlCol="0">
                <a:spAutoFit/>
              </a:bodyPr>
              <a:lstStyle/>
              <a:p>
                <a:r>
                  <a:rPr lang="en-US" altLang="zh-CN" b="1"/>
                  <a:t>Assumption 1: </a:t>
                </a:r>
                <a:r>
                  <a:rPr lang="en-US" altLang="zh-CN"/>
                  <a:t>the spatial gradient vector field v is the gradient of a continuously differentiable, scalar function                    , that is v = ∇d.</a:t>
                </a:r>
              </a:p>
              <a:p>
                <a:endParaRPr lang="en-US" altLang="zh-CN"/>
              </a:p>
              <a:p>
                <a:r>
                  <a:rPr lang="en-US" altLang="zh-CN" b="1">
                    <a:latin typeface="Arial" panose="020B0604020202020204" pitchFamily="34" charset="0"/>
                    <a:cs typeface="Arial" panose="020B0604020202020204" pitchFamily="34" charset="0"/>
                  </a:rPr>
                  <a:t>Assumption 2: </a:t>
                </a:r>
                <a:r>
                  <a:rPr lang="en-US" altLang="zh-CN">
                    <a:latin typeface="Arial" panose="020B0604020202020204" pitchFamily="34" charset="0"/>
                    <a:cs typeface="Arial" panose="020B0604020202020204" pitchFamily="34" charset="0"/>
                  </a:rPr>
                  <a:t>each spatial domain Rp = ((x, y): bp−1 &lt; d(x, y) ≤ bp) is equal to the set of spatial locations (x, y) with isodepth d(x, y) in the interval (bp−1, bp], for some real numbers −∞ = b0 &lt; b1 &lt; ⋯ &lt; bQ−1 &lt; bQ = ∞. </a:t>
                </a:r>
              </a:p>
              <a:p>
                <a:endParaRPr lang="en-US" altLang="zh-CN">
                  <a:latin typeface="Arial" panose="020B0604020202020204" pitchFamily="34" charset="0"/>
                  <a:cs typeface="Arial" panose="020B0604020202020204" pitchFamily="34" charset="0"/>
                </a:endParaRPr>
              </a:p>
              <a:p>
                <a:r>
                  <a:rPr lang="en-US" altLang="zh-CN" b="1">
                    <a:latin typeface="Arial" panose="020B0604020202020204" pitchFamily="34" charset="0"/>
                    <a:cs typeface="Arial" panose="020B0604020202020204" pitchFamily="34" charset="0"/>
                  </a:rPr>
                  <a:t>Assumption 3:</a:t>
                </a:r>
                <a:r>
                  <a:rPr lang="en-US" altLang="zh-CN">
                    <a:latin typeface="Arial" panose="020B0604020202020204" pitchFamily="34" charset="0"/>
                    <a:cs typeface="Arial" panose="020B0604020202020204" pitchFamily="34" charset="0"/>
                  </a:rPr>
                  <a:t> the scalar functions βg(x, y) are constant inside each spatial domain Rp; that is, the scalar functions                                            are piecewise constant.</a:t>
                </a:r>
              </a:p>
            </p:txBody>
          </p:sp>
          <p:pic>
            <p:nvPicPr>
              <p:cNvPr id="11" name="图片 10"/>
              <p:cNvPicPr>
                <a:picLocks noChangeAspect="1"/>
              </p:cNvPicPr>
              <p:nvPr/>
            </p:nvPicPr>
            <p:blipFill>
              <a:blip r:embed="rId4"/>
              <a:stretch>
                <a:fillRect/>
              </a:stretch>
            </p:blipFill>
            <p:spPr>
              <a:xfrm>
                <a:off x="2163" y="2926"/>
                <a:ext cx="1744" cy="449"/>
              </a:xfrm>
              <a:prstGeom prst="rect">
                <a:avLst/>
              </a:prstGeom>
            </p:spPr>
          </p:pic>
        </p:grpSp>
        <p:pic>
          <p:nvPicPr>
            <p:cNvPr id="15" name="图片 14"/>
            <p:cNvPicPr>
              <a:picLocks noChangeAspect="1"/>
            </p:cNvPicPr>
            <p:nvPr/>
          </p:nvPicPr>
          <p:blipFill>
            <a:blip r:embed="rId5"/>
            <a:stretch>
              <a:fillRect/>
            </a:stretch>
          </p:blipFill>
          <p:spPr>
            <a:xfrm>
              <a:off x="2387" y="5715"/>
              <a:ext cx="4143" cy="503"/>
            </a:xfrm>
            <a:prstGeom prst="rect">
              <a:avLst/>
            </a:prstGeom>
          </p:spPr>
        </p:pic>
      </p:grpSp>
      <p:pic>
        <p:nvPicPr>
          <p:cNvPr id="26" name="图片 25"/>
          <p:cNvPicPr>
            <a:picLocks noChangeAspect="1"/>
          </p:cNvPicPr>
          <p:nvPr/>
        </p:nvPicPr>
        <p:blipFill>
          <a:blip r:embed="rId6"/>
          <a:stretch>
            <a:fillRect/>
          </a:stretch>
        </p:blipFill>
        <p:spPr>
          <a:xfrm>
            <a:off x="387350" y="4713882"/>
            <a:ext cx="5116830" cy="885825"/>
          </a:xfrm>
          <a:prstGeom prst="rect">
            <a:avLst/>
          </a:prstGeom>
          <a:effectLst>
            <a:outerShdw blurRad="50800" dist="38100" dir="2700000" algn="tl" rotWithShape="0">
              <a:prstClr val="black">
                <a:alpha val="40000"/>
              </a:prstClr>
            </a:outerShdw>
          </a:effectLst>
        </p:spPr>
      </p:pic>
      <p:pic>
        <p:nvPicPr>
          <p:cNvPr id="27" name="图片 26"/>
          <p:cNvPicPr>
            <a:picLocks noChangeAspect="1"/>
          </p:cNvPicPr>
          <p:nvPr/>
        </p:nvPicPr>
        <p:blipFill>
          <a:blip r:embed="rId7"/>
          <a:stretch>
            <a:fillRect/>
          </a:stretch>
        </p:blipFill>
        <p:spPr>
          <a:xfrm>
            <a:off x="6216650" y="3991252"/>
            <a:ext cx="5057140" cy="722630"/>
          </a:xfrm>
          <a:prstGeom prst="rect">
            <a:avLst/>
          </a:prstGeom>
          <a:effectLst>
            <a:outerShdw blurRad="50800" dist="38100" dir="2700000" algn="tl" rotWithShape="0">
              <a:prstClr val="black">
                <a:alpha val="40000"/>
              </a:prstClr>
            </a:outerShdw>
          </a:effectLst>
        </p:spPr>
      </p:pic>
      <p:pic>
        <p:nvPicPr>
          <p:cNvPr id="29" name="图片 28"/>
          <p:cNvPicPr>
            <a:picLocks noChangeAspect="1"/>
          </p:cNvPicPr>
          <p:nvPr/>
        </p:nvPicPr>
        <p:blipFill>
          <a:blip r:embed="rId8"/>
          <a:srcRect t="13576"/>
          <a:stretch>
            <a:fillRect/>
          </a:stretch>
        </p:blipFill>
        <p:spPr>
          <a:xfrm>
            <a:off x="6369685" y="5182512"/>
            <a:ext cx="4751070" cy="784225"/>
          </a:xfrm>
          <a:prstGeom prst="rect">
            <a:avLst/>
          </a:prstGeom>
          <a:effectLst>
            <a:outerShdw blurRad="50800" dist="38100" dir="2700000" algn="tl" rotWithShape="0">
              <a:prstClr val="black">
                <a:alpha val="40000"/>
              </a:prstClr>
            </a:outerShdw>
          </a:effectLst>
        </p:spPr>
      </p:pic>
      <p:cxnSp>
        <p:nvCxnSpPr>
          <p:cNvPr id="31" name="曲线连接符 30"/>
          <p:cNvCxnSpPr>
            <a:stCxn id="26" idx="3"/>
            <a:endCxn id="27" idx="1"/>
          </p:cNvCxnSpPr>
          <p:nvPr/>
        </p:nvCxnSpPr>
        <p:spPr>
          <a:xfrm flipV="1">
            <a:off x="5504180" y="4352567"/>
            <a:ext cx="712470" cy="804545"/>
          </a:xfrm>
          <a:prstGeom prst="curvedConnector3">
            <a:avLst>
              <a:gd name="adj1" fmla="val 50000"/>
            </a:avLst>
          </a:prstGeom>
          <a:ln w="28575">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32" name="曲线连接符 31"/>
          <p:cNvCxnSpPr>
            <a:stCxn id="27" idx="3"/>
            <a:endCxn id="29" idx="3"/>
          </p:cNvCxnSpPr>
          <p:nvPr/>
        </p:nvCxnSpPr>
        <p:spPr>
          <a:xfrm flipH="1">
            <a:off x="11120755" y="4352567"/>
            <a:ext cx="153035" cy="1222375"/>
          </a:xfrm>
          <a:prstGeom prst="curvedConnector3">
            <a:avLst>
              <a:gd name="adj1" fmla="val -155602"/>
            </a:avLst>
          </a:prstGeom>
          <a:ln w="28575">
            <a:solidFill>
              <a:srgbClr val="C00000"/>
            </a:solidFill>
            <a:tailEnd type="arrow"/>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470E2-A1B2-DB0D-20C0-F3BEB92AC1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6C84AC-FFB0-B608-1A88-D6CC807B203A}"/>
              </a:ext>
            </a:extLst>
          </p:cNvPr>
          <p:cNvSpPr>
            <a:spLocks noGrp="1"/>
          </p:cNvSpPr>
          <p:nvPr>
            <p:ph type="title"/>
          </p:nvPr>
        </p:nvSpPr>
        <p:spPr>
          <a:xfrm>
            <a:off x="356446" y="197132"/>
            <a:ext cx="11432667" cy="711320"/>
          </a:xfrm>
        </p:spPr>
        <p:txBody>
          <a:bodyPr>
            <a:noAutofit/>
          </a:bodyPr>
          <a:lstStyle/>
          <a:p>
            <a:r>
              <a:rPr lang="en" altLang="zh-CN" sz="2400" dirty="0">
                <a:solidFill>
                  <a:srgbClr val="000000"/>
                </a:solidFill>
                <a:effectLst/>
                <a:latin typeface="Arial" panose="020B0604020202020204" pitchFamily="34" charset="0"/>
                <a:cs typeface="Arial" panose="020B0604020202020204" pitchFamily="34" charset="0"/>
              </a:rPr>
              <a:t>Reproduce the </a:t>
            </a:r>
            <a:r>
              <a:rPr lang="en" altLang="zh-CN" sz="2400" dirty="0">
                <a:solidFill>
                  <a:srgbClr val="000000"/>
                </a:solidFill>
                <a:latin typeface="Arial" panose="020B0604020202020204" pitchFamily="34" charset="0"/>
                <a:cs typeface="Arial" panose="020B0604020202020204" pitchFamily="34" charset="0"/>
              </a:rPr>
              <a:t>GASTON</a:t>
            </a:r>
            <a:r>
              <a:rPr lang="zh-CN" altLang="en-US" sz="2400" dirty="0">
                <a:solidFill>
                  <a:srgbClr val="000000"/>
                </a:solidFill>
                <a:effectLst/>
                <a:latin typeface="Arial" panose="020B0604020202020204" pitchFamily="34" charset="0"/>
                <a:cs typeface="Arial" panose="020B0604020202020204" pitchFamily="34" charset="0"/>
              </a:rPr>
              <a:t> </a:t>
            </a:r>
            <a:r>
              <a:rPr lang="en" altLang="zh-CN" sz="2400" dirty="0">
                <a:solidFill>
                  <a:srgbClr val="000000"/>
                </a:solidFill>
                <a:effectLst/>
                <a:latin typeface="Arial" panose="020B0604020202020204" pitchFamily="34" charset="0"/>
                <a:cs typeface="Arial" panose="020B0604020202020204" pitchFamily="34" charset="0"/>
              </a:rPr>
              <a:t>methods used in the article for future analyses</a:t>
            </a:r>
            <a:endParaRPr lang="en" altLang="zh-CN" sz="1400" dirty="0">
              <a:latin typeface="Arial" panose="020B0604020202020204" pitchFamily="34" charset="0"/>
              <a:cs typeface="Arial" panose="020B0604020202020204" pitchFamily="34" charset="0"/>
            </a:endParaRPr>
          </a:p>
        </p:txBody>
      </p:sp>
      <p:pic>
        <p:nvPicPr>
          <p:cNvPr id="3" name="图片 2">
            <a:extLst>
              <a:ext uri="{FF2B5EF4-FFF2-40B4-BE49-F238E27FC236}">
                <a16:creationId xmlns:a16="http://schemas.microsoft.com/office/drawing/2014/main" id="{3F5FA710-D978-DD03-D92D-B99474BD7B1E}"/>
              </a:ext>
            </a:extLst>
          </p:cNvPr>
          <p:cNvPicPr>
            <a:picLocks noChangeAspect="1"/>
          </p:cNvPicPr>
          <p:nvPr/>
        </p:nvPicPr>
        <p:blipFill>
          <a:blip r:embed="rId3"/>
          <a:stretch>
            <a:fillRect/>
          </a:stretch>
        </p:blipFill>
        <p:spPr>
          <a:xfrm>
            <a:off x="402886" y="908452"/>
            <a:ext cx="7772400" cy="3977722"/>
          </a:xfrm>
          <a:prstGeom prst="rect">
            <a:avLst/>
          </a:prstGeom>
        </p:spPr>
      </p:pic>
      <p:pic>
        <p:nvPicPr>
          <p:cNvPr id="4" name="图片 3">
            <a:extLst>
              <a:ext uri="{FF2B5EF4-FFF2-40B4-BE49-F238E27FC236}">
                <a16:creationId xmlns:a16="http://schemas.microsoft.com/office/drawing/2014/main" id="{89515C9D-3E4A-02A0-BFF6-FA1D94DCDC70}"/>
              </a:ext>
            </a:extLst>
          </p:cNvPr>
          <p:cNvPicPr>
            <a:picLocks noChangeAspect="1"/>
          </p:cNvPicPr>
          <p:nvPr/>
        </p:nvPicPr>
        <p:blipFill>
          <a:blip r:embed="rId4"/>
          <a:stretch>
            <a:fillRect/>
          </a:stretch>
        </p:blipFill>
        <p:spPr>
          <a:xfrm>
            <a:off x="4079778" y="2440057"/>
            <a:ext cx="7772400" cy="4094687"/>
          </a:xfrm>
          <a:prstGeom prst="rect">
            <a:avLst/>
          </a:prstGeom>
        </p:spPr>
      </p:pic>
      <p:sp>
        <p:nvSpPr>
          <p:cNvPr id="5" name="上弧形箭头 4">
            <a:extLst>
              <a:ext uri="{FF2B5EF4-FFF2-40B4-BE49-F238E27FC236}">
                <a16:creationId xmlns:a16="http://schemas.microsoft.com/office/drawing/2014/main" id="{2169D55F-6BA5-2960-A96C-D192FA7EC8EF}"/>
              </a:ext>
            </a:extLst>
          </p:cNvPr>
          <p:cNvSpPr/>
          <p:nvPr/>
        </p:nvSpPr>
        <p:spPr>
          <a:xfrm rot="1550801">
            <a:off x="1462582" y="5516748"/>
            <a:ext cx="2412124" cy="650875"/>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Tree>
    <p:extLst>
      <p:ext uri="{BB962C8B-B14F-4D97-AF65-F5344CB8AC3E}">
        <p14:creationId xmlns:p14="http://schemas.microsoft.com/office/powerpoint/2010/main" val="317127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B7F2A-5EB1-0119-8639-2BCBF4137DF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D7948FF-489F-C77F-118F-09D8D543F866}"/>
              </a:ext>
            </a:extLst>
          </p:cNvPr>
          <p:cNvSpPr>
            <a:spLocks noGrp="1"/>
          </p:cNvSpPr>
          <p:nvPr>
            <p:ph type="title"/>
          </p:nvPr>
        </p:nvSpPr>
        <p:spPr>
          <a:xfrm>
            <a:off x="356447" y="197132"/>
            <a:ext cx="11680382" cy="711320"/>
          </a:xfrm>
        </p:spPr>
        <p:txBody>
          <a:bodyPr>
            <a:noAutofit/>
          </a:bodyPr>
          <a:lstStyle/>
          <a:p>
            <a:r>
              <a:rPr lang="en" altLang="zh-CN" sz="2800" dirty="0">
                <a:solidFill>
                  <a:srgbClr val="000000"/>
                </a:solidFill>
                <a:latin typeface="Arial" panose="020B0604020202020204" pitchFamily="34" charset="0"/>
                <a:cs typeface="Arial" panose="020B0604020202020204" pitchFamily="34" charset="0"/>
              </a:rPr>
              <a:t>Clustering after GASTON unveiled the brain</a:t>
            </a:r>
            <a:r>
              <a:rPr lang="zh-CN" altLang="en-US" sz="2800" dirty="0">
                <a:solidFill>
                  <a:srgbClr val="000000"/>
                </a:solidFill>
                <a:latin typeface="Arial" panose="020B0604020202020204" pitchFamily="34" charset="0"/>
                <a:cs typeface="Arial" panose="020B0604020202020204" pitchFamily="34" charset="0"/>
              </a:rPr>
              <a:t> </a:t>
            </a:r>
            <a:r>
              <a:rPr lang="en" altLang="zh-CN" sz="2800" dirty="0">
                <a:solidFill>
                  <a:srgbClr val="000000"/>
                </a:solidFill>
                <a:latin typeface="Arial" panose="020B0604020202020204" pitchFamily="34" charset="0"/>
                <a:cs typeface="Arial" panose="020B0604020202020204" pitchFamily="34" charset="0"/>
              </a:rPr>
              <a:t>layers</a:t>
            </a:r>
          </a:p>
        </p:txBody>
      </p:sp>
      <p:pic>
        <p:nvPicPr>
          <p:cNvPr id="13" name="图片 12" descr="卡通人物&#10;&#10;AI 生成的内容可能不正确。">
            <a:extLst>
              <a:ext uri="{FF2B5EF4-FFF2-40B4-BE49-F238E27FC236}">
                <a16:creationId xmlns:a16="http://schemas.microsoft.com/office/drawing/2014/main" id="{5ECEDE7A-B96D-7FFB-CFAB-EC9F2E10BDFB}"/>
              </a:ext>
            </a:extLst>
          </p:cNvPr>
          <p:cNvPicPr>
            <a:picLocks noChangeAspect="1"/>
          </p:cNvPicPr>
          <p:nvPr/>
        </p:nvPicPr>
        <p:blipFill>
          <a:blip r:embed="rId3"/>
          <a:srcRect l="7320" t="6938" r="5378" b="9313"/>
          <a:stretch/>
        </p:blipFill>
        <p:spPr>
          <a:xfrm>
            <a:off x="8942716" y="3958348"/>
            <a:ext cx="2540033" cy="2436659"/>
          </a:xfrm>
          <a:prstGeom prst="rect">
            <a:avLst/>
          </a:prstGeom>
        </p:spPr>
      </p:pic>
      <p:pic>
        <p:nvPicPr>
          <p:cNvPr id="15" name="图片 14" descr="图示&#10;&#10;AI 生成的内容可能不正确。">
            <a:extLst>
              <a:ext uri="{FF2B5EF4-FFF2-40B4-BE49-F238E27FC236}">
                <a16:creationId xmlns:a16="http://schemas.microsoft.com/office/drawing/2014/main" id="{9F79209D-5F1A-9C44-9433-1ADEF9BBEF42}"/>
              </a:ext>
            </a:extLst>
          </p:cNvPr>
          <p:cNvPicPr>
            <a:picLocks noChangeAspect="1"/>
          </p:cNvPicPr>
          <p:nvPr/>
        </p:nvPicPr>
        <p:blipFill>
          <a:blip r:embed="rId4"/>
          <a:srcRect l="5515" t="10716" r="8682" b="5535"/>
          <a:stretch/>
        </p:blipFill>
        <p:spPr>
          <a:xfrm>
            <a:off x="6089455" y="3991599"/>
            <a:ext cx="3022106" cy="2528358"/>
          </a:xfrm>
          <a:prstGeom prst="rect">
            <a:avLst/>
          </a:prstGeom>
        </p:spPr>
      </p:pic>
      <p:sp>
        <p:nvSpPr>
          <p:cNvPr id="18" name="文本框 17">
            <a:extLst>
              <a:ext uri="{FF2B5EF4-FFF2-40B4-BE49-F238E27FC236}">
                <a16:creationId xmlns:a16="http://schemas.microsoft.com/office/drawing/2014/main" id="{1C6C8871-FB85-00F0-FF0E-0E9F1A8CD5D6}"/>
              </a:ext>
            </a:extLst>
          </p:cNvPr>
          <p:cNvSpPr txBox="1"/>
          <p:nvPr/>
        </p:nvSpPr>
        <p:spPr>
          <a:xfrm>
            <a:off x="8173422" y="3604522"/>
            <a:ext cx="1765738" cy="369332"/>
          </a:xfrm>
          <a:prstGeom prst="rect">
            <a:avLst/>
          </a:prstGeom>
          <a:noFill/>
        </p:spPr>
        <p:txBody>
          <a:bodyPr wrap="square" rtlCol="0">
            <a:spAutoFit/>
          </a:bodyPr>
          <a:lstStyle/>
          <a:p>
            <a:pPr algn="ctr"/>
            <a:r>
              <a:rPr kumimoji="1" lang="en-US" altLang="zh-CN" dirty="0">
                <a:latin typeface="Arial" panose="020B0604020202020204" pitchFamily="34" charset="0"/>
                <a:cs typeface="Arial" panose="020B0604020202020204" pitchFamily="34" charset="0"/>
              </a:rPr>
              <a:t>GSM5591748</a:t>
            </a:r>
            <a:endParaRPr kumimoji="1" lang="zh-CN" altLang="en-US" dirty="0">
              <a:latin typeface="Arial" panose="020B0604020202020204" pitchFamily="34" charset="0"/>
              <a:cs typeface="Arial" panose="020B0604020202020204" pitchFamily="34" charset="0"/>
            </a:endParaRPr>
          </a:p>
        </p:txBody>
      </p:sp>
      <p:pic>
        <p:nvPicPr>
          <p:cNvPr id="20" name="图片 19" descr="图形用户界面, 文本, 应用程序, 电子邮件&#10;&#10;AI 生成的内容可能不正确。">
            <a:extLst>
              <a:ext uri="{FF2B5EF4-FFF2-40B4-BE49-F238E27FC236}">
                <a16:creationId xmlns:a16="http://schemas.microsoft.com/office/drawing/2014/main" id="{F7C22991-6C4C-C179-5C77-59CBFB4AD151}"/>
              </a:ext>
            </a:extLst>
          </p:cNvPr>
          <p:cNvPicPr>
            <a:picLocks noChangeAspect="1"/>
          </p:cNvPicPr>
          <p:nvPr/>
        </p:nvPicPr>
        <p:blipFill>
          <a:blip r:embed="rId5"/>
          <a:srcRect l="1249" t="3188" r="1449" b="1"/>
          <a:stretch/>
        </p:blipFill>
        <p:spPr>
          <a:xfrm>
            <a:off x="410244" y="1137067"/>
            <a:ext cx="5685756" cy="2271837"/>
          </a:xfrm>
          <a:prstGeom prst="rect">
            <a:avLst/>
          </a:prstGeom>
        </p:spPr>
      </p:pic>
      <p:pic>
        <p:nvPicPr>
          <p:cNvPr id="22" name="图片 21" descr="图形用户界面, 文本, 应用程序&#10;&#10;AI 生成的内容可能不正确。">
            <a:extLst>
              <a:ext uri="{FF2B5EF4-FFF2-40B4-BE49-F238E27FC236}">
                <a16:creationId xmlns:a16="http://schemas.microsoft.com/office/drawing/2014/main" id="{89E356DC-DF00-9CA0-B10F-623129C37C4B}"/>
              </a:ext>
            </a:extLst>
          </p:cNvPr>
          <p:cNvPicPr>
            <a:picLocks noChangeAspect="1"/>
          </p:cNvPicPr>
          <p:nvPr/>
        </p:nvPicPr>
        <p:blipFill>
          <a:blip r:embed="rId6"/>
          <a:stretch>
            <a:fillRect/>
          </a:stretch>
        </p:blipFill>
        <p:spPr>
          <a:xfrm>
            <a:off x="474792" y="3422609"/>
            <a:ext cx="2514111" cy="581388"/>
          </a:xfrm>
          <a:prstGeom prst="rect">
            <a:avLst/>
          </a:prstGeom>
        </p:spPr>
      </p:pic>
      <p:pic>
        <p:nvPicPr>
          <p:cNvPr id="23" name="图片 22" descr="地图&#10;&#10;AI 生成的内容可能不正确。">
            <a:extLst>
              <a:ext uri="{FF2B5EF4-FFF2-40B4-BE49-F238E27FC236}">
                <a16:creationId xmlns:a16="http://schemas.microsoft.com/office/drawing/2014/main" id="{96B3CF57-026F-0859-24C8-3F708138F374}"/>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20159" b="91429" l="6312" r="47239">
                        <a14:foregroundMark x1="40434" y1="23016" x2="40434" y2="23016"/>
                        <a14:foregroundMark x1="40730" y1="20317" x2="39744" y2="26349"/>
                        <a14:foregroundMark x1="10454" y1="91587" x2="14892" y2="89841"/>
                        <a14:foregroundMark x1="43195" y1="77302" x2="44181" y2="78413"/>
                        <a14:foregroundMark x1="43886" y1="53175" x2="46252" y2="50952"/>
                        <a14:foregroundMark x1="46548" y1="50952" x2="47239" y2="51587"/>
                      </a14:backgroundRemoval>
                    </a14:imgEffect>
                  </a14:imgLayer>
                </a14:imgProps>
              </a:ext>
            </a:extLst>
          </a:blip>
          <a:srcRect l="1692" t="14016" r="50368" b="4111"/>
          <a:stretch/>
        </p:blipFill>
        <p:spPr>
          <a:xfrm>
            <a:off x="6485837" y="999882"/>
            <a:ext cx="2109421" cy="2238292"/>
          </a:xfrm>
          <a:prstGeom prst="rect">
            <a:avLst/>
          </a:prstGeom>
        </p:spPr>
      </p:pic>
      <p:sp>
        <p:nvSpPr>
          <p:cNvPr id="3" name="文本框 2">
            <a:extLst>
              <a:ext uri="{FF2B5EF4-FFF2-40B4-BE49-F238E27FC236}">
                <a16:creationId xmlns:a16="http://schemas.microsoft.com/office/drawing/2014/main" id="{22C71F56-5253-0DD2-053E-53014C5AF4A3}"/>
              </a:ext>
            </a:extLst>
          </p:cNvPr>
          <p:cNvSpPr txBox="1"/>
          <p:nvPr/>
        </p:nvSpPr>
        <p:spPr>
          <a:xfrm>
            <a:off x="11338203" y="4276373"/>
            <a:ext cx="832514" cy="307777"/>
          </a:xfrm>
          <a:prstGeom prst="rect">
            <a:avLst/>
          </a:prstGeom>
          <a:noFill/>
        </p:spPr>
        <p:txBody>
          <a:bodyPr wrap="square" rtlCol="0">
            <a:spAutoFit/>
          </a:bodyPr>
          <a:lstStyle/>
          <a:p>
            <a:r>
              <a:rPr kumimoji="1" lang="en-US" altLang="zh-CN" sz="1400" dirty="0">
                <a:latin typeface="Arial" panose="020B0604020202020204" pitchFamily="34" charset="0"/>
                <a:cs typeface="Arial" panose="020B0604020202020204" pitchFamily="34" charset="0"/>
              </a:rPr>
              <a:t>Layer 1</a:t>
            </a:r>
            <a:endParaRPr kumimoji="1" lang="zh-CN" altLang="en-US" sz="1400" dirty="0">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E97CA9A4-0D32-067C-D384-B8AACC703B05}"/>
              </a:ext>
            </a:extLst>
          </p:cNvPr>
          <p:cNvSpPr txBox="1"/>
          <p:nvPr/>
        </p:nvSpPr>
        <p:spPr>
          <a:xfrm>
            <a:off x="11356400" y="4892278"/>
            <a:ext cx="832514" cy="307777"/>
          </a:xfrm>
          <a:prstGeom prst="rect">
            <a:avLst/>
          </a:prstGeom>
          <a:noFill/>
        </p:spPr>
        <p:txBody>
          <a:bodyPr wrap="square" rtlCol="0">
            <a:spAutoFit/>
          </a:bodyPr>
          <a:lstStyle/>
          <a:p>
            <a:r>
              <a:rPr kumimoji="1" lang="en-US" altLang="zh-CN" sz="1400" dirty="0">
                <a:latin typeface="Arial" panose="020B0604020202020204" pitchFamily="34" charset="0"/>
                <a:cs typeface="Arial" panose="020B0604020202020204" pitchFamily="34" charset="0"/>
              </a:rPr>
              <a:t>Layer 2</a:t>
            </a:r>
            <a:endParaRPr kumimoji="1" lang="zh-CN" altLang="en-US" sz="1400"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39B9AFBC-E216-D4A0-173A-CCF67CEB7A83}"/>
              </a:ext>
            </a:extLst>
          </p:cNvPr>
          <p:cNvSpPr txBox="1"/>
          <p:nvPr/>
        </p:nvSpPr>
        <p:spPr>
          <a:xfrm>
            <a:off x="11345838" y="5607872"/>
            <a:ext cx="832514" cy="307777"/>
          </a:xfrm>
          <a:prstGeom prst="rect">
            <a:avLst/>
          </a:prstGeom>
          <a:noFill/>
        </p:spPr>
        <p:txBody>
          <a:bodyPr wrap="square" rtlCol="0">
            <a:spAutoFit/>
          </a:bodyPr>
          <a:lstStyle/>
          <a:p>
            <a:r>
              <a:rPr kumimoji="1" lang="en-US" altLang="zh-CN" sz="1400" dirty="0">
                <a:latin typeface="Arial" panose="020B0604020202020204" pitchFamily="34" charset="0"/>
                <a:cs typeface="Arial" panose="020B0604020202020204" pitchFamily="34" charset="0"/>
              </a:rPr>
              <a:t>Layer 3</a:t>
            </a:r>
            <a:endParaRPr kumimoji="1" lang="zh-CN" altLang="en-US" sz="1400"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E1B69945-816A-423D-B1FB-5A9A70975121}"/>
              </a:ext>
            </a:extLst>
          </p:cNvPr>
          <p:cNvSpPr txBox="1"/>
          <p:nvPr/>
        </p:nvSpPr>
        <p:spPr>
          <a:xfrm>
            <a:off x="11345838" y="6047372"/>
            <a:ext cx="832514" cy="307777"/>
          </a:xfrm>
          <a:prstGeom prst="rect">
            <a:avLst/>
          </a:prstGeom>
          <a:noFill/>
        </p:spPr>
        <p:txBody>
          <a:bodyPr wrap="square" rtlCol="0">
            <a:spAutoFit/>
          </a:bodyPr>
          <a:lstStyle/>
          <a:p>
            <a:r>
              <a:rPr kumimoji="1" lang="en-US" altLang="zh-CN" sz="1400" dirty="0">
                <a:latin typeface="Arial" panose="020B0604020202020204" pitchFamily="34" charset="0"/>
                <a:cs typeface="Arial" panose="020B0604020202020204" pitchFamily="34" charset="0"/>
              </a:rPr>
              <a:t>Layer 4</a:t>
            </a:r>
            <a:endParaRPr kumimoji="1" lang="zh-CN" altLang="en-US" sz="1400" dirty="0">
              <a:latin typeface="Arial" panose="020B0604020202020204" pitchFamily="34" charset="0"/>
              <a:cs typeface="Arial" panose="020B0604020202020204" pitchFamily="34" charset="0"/>
            </a:endParaRPr>
          </a:p>
        </p:txBody>
      </p:sp>
      <p:pic>
        <p:nvPicPr>
          <p:cNvPr id="10" name="图片 9" descr="图形用户界面, 文本, 应用程序&#10;&#10;AI 生成的内容可能不正确。">
            <a:extLst>
              <a:ext uri="{FF2B5EF4-FFF2-40B4-BE49-F238E27FC236}">
                <a16:creationId xmlns:a16="http://schemas.microsoft.com/office/drawing/2014/main" id="{346B4386-D4BA-4196-D32B-73DE362C9454}"/>
              </a:ext>
            </a:extLst>
          </p:cNvPr>
          <p:cNvPicPr>
            <a:picLocks noChangeAspect="1"/>
          </p:cNvPicPr>
          <p:nvPr/>
        </p:nvPicPr>
        <p:blipFill>
          <a:blip r:embed="rId9"/>
          <a:stretch>
            <a:fillRect/>
          </a:stretch>
        </p:blipFill>
        <p:spPr>
          <a:xfrm>
            <a:off x="328218" y="4331041"/>
            <a:ext cx="5849807" cy="1807567"/>
          </a:xfrm>
          <a:prstGeom prst="rect">
            <a:avLst/>
          </a:prstGeom>
        </p:spPr>
      </p:pic>
      <p:pic>
        <p:nvPicPr>
          <p:cNvPr id="11" name="图片 10" descr="地图&#10;&#10;AI 生成的内容可能不正确。">
            <a:extLst>
              <a:ext uri="{FF2B5EF4-FFF2-40B4-BE49-F238E27FC236}">
                <a16:creationId xmlns:a16="http://schemas.microsoft.com/office/drawing/2014/main" id="{6E54C321-F14E-8872-BEEE-0327C790DBE3}"/>
              </a:ext>
            </a:extLst>
          </p:cNvPr>
          <p:cNvPicPr>
            <a:picLocks noChangeAspect="1"/>
          </p:cNvPicPr>
          <p:nvPr/>
        </p:nvPicPr>
        <p:blipFill>
          <a:blip r:embed="rId10">
            <a:extLst>
              <a:ext uri="{BEBA8EAE-BF5A-486C-A8C5-ECC9F3942E4B}">
                <a14:imgProps xmlns:a14="http://schemas.microsoft.com/office/drawing/2010/main">
                  <a14:imgLayer r:embed="rId8">
                    <a14:imgEffect>
                      <a14:backgroundRemoval t="19048" b="96032" l="52367" r="97535">
                        <a14:foregroundMark x1="80671" y1="25397" x2="83728" y2="26032"/>
                        <a14:foregroundMark x1="90138" y1="24921" x2="92604" y2="21111"/>
                        <a14:foregroundMark x1="91913" y1="67143" x2="95266" y2="72063"/>
                        <a14:foregroundMark x1="60552" y1="81905" x2="53846" y2="96190"/>
                        <a14:foregroundMark x1="53846" y1="96190" x2="54734" y2="94603"/>
                        <a14:foregroundMark x1="90828" y1="19365" x2="93886" y2="20000"/>
                        <a14:foregroundMark x1="93590" y1="63810" x2="97633" y2="67143"/>
                        <a14:foregroundMark x1="52367" y1="34762" x2="57101" y2="40794"/>
                      </a14:backgroundRemoval>
                    </a14:imgEffect>
                  </a14:imgLayer>
                </a14:imgProps>
              </a:ext>
            </a:extLst>
          </a:blip>
          <a:srcRect l="50667" t="14016" r="1531" b="4111"/>
          <a:stretch/>
        </p:blipFill>
        <p:spPr>
          <a:xfrm>
            <a:off x="9101104" y="999882"/>
            <a:ext cx="2103336" cy="2238292"/>
          </a:xfrm>
          <a:prstGeom prst="rect">
            <a:avLst/>
          </a:prstGeom>
        </p:spPr>
      </p:pic>
    </p:spTree>
    <p:extLst>
      <p:ext uri="{BB962C8B-B14F-4D97-AF65-F5344CB8AC3E}">
        <p14:creationId xmlns:p14="http://schemas.microsoft.com/office/powerpoint/2010/main" val="4023302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p:bldP spid="4"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2023E-C5A9-6AE5-5D72-19DDA368ED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AA26AD9-7661-0D03-E370-B48EC60A6DC4}"/>
              </a:ext>
            </a:extLst>
          </p:cNvPr>
          <p:cNvSpPr>
            <a:spLocks noGrp="1"/>
          </p:cNvSpPr>
          <p:nvPr>
            <p:ph type="title"/>
          </p:nvPr>
        </p:nvSpPr>
        <p:spPr>
          <a:xfrm>
            <a:off x="356447" y="197132"/>
            <a:ext cx="11680382" cy="711320"/>
          </a:xfrm>
        </p:spPr>
        <p:txBody>
          <a:bodyPr>
            <a:noAutofit/>
          </a:bodyPr>
          <a:lstStyle/>
          <a:p>
            <a:r>
              <a:rPr lang="en-US" altLang="zh-CN" sz="2400" dirty="0">
                <a:solidFill>
                  <a:srgbClr val="000000"/>
                </a:solidFill>
                <a:effectLst/>
                <a:latin typeface="Arial" panose="020B0604020202020204" pitchFamily="34" charset="0"/>
                <a:cs typeface="Arial" panose="020B0604020202020204" pitchFamily="34" charset="0"/>
              </a:rPr>
              <a:t>Several genes exhibit different expression across different layers</a:t>
            </a:r>
            <a:endParaRPr lang="en" altLang="zh-CN" sz="1400" dirty="0">
              <a:latin typeface="Arial" panose="020B0604020202020204" pitchFamily="34" charset="0"/>
              <a:cs typeface="Arial" panose="020B0604020202020204" pitchFamily="34" charset="0"/>
            </a:endParaRPr>
          </a:p>
        </p:txBody>
      </p:sp>
      <p:pic>
        <p:nvPicPr>
          <p:cNvPr id="5" name="图片 4">
            <a:extLst>
              <a:ext uri="{FF2B5EF4-FFF2-40B4-BE49-F238E27FC236}">
                <a16:creationId xmlns:a16="http://schemas.microsoft.com/office/drawing/2014/main" id="{431A0075-6920-A92A-DC24-E3FAEA8F81F2}"/>
              </a:ext>
            </a:extLst>
          </p:cNvPr>
          <p:cNvPicPr>
            <a:picLocks noChangeAspect="1"/>
          </p:cNvPicPr>
          <p:nvPr/>
        </p:nvPicPr>
        <p:blipFill>
          <a:blip r:embed="rId3"/>
          <a:srcRect t="2809"/>
          <a:stretch/>
        </p:blipFill>
        <p:spPr>
          <a:xfrm>
            <a:off x="215587" y="1139686"/>
            <a:ext cx="7772400" cy="5665588"/>
          </a:xfrm>
          <a:prstGeom prst="rect">
            <a:avLst/>
          </a:prstGeom>
        </p:spPr>
      </p:pic>
      <p:sp>
        <p:nvSpPr>
          <p:cNvPr id="6" name="文本框 5">
            <a:extLst>
              <a:ext uri="{FF2B5EF4-FFF2-40B4-BE49-F238E27FC236}">
                <a16:creationId xmlns:a16="http://schemas.microsoft.com/office/drawing/2014/main" id="{2E7AAC01-887F-E5C8-7D3D-8758F587EFAB}"/>
              </a:ext>
            </a:extLst>
          </p:cNvPr>
          <p:cNvSpPr txBox="1"/>
          <p:nvPr/>
        </p:nvSpPr>
        <p:spPr>
          <a:xfrm>
            <a:off x="8156708" y="5101730"/>
            <a:ext cx="3880121" cy="1200329"/>
          </a:xfrm>
          <a:prstGeom prst="rect">
            <a:avLst/>
          </a:prstGeom>
          <a:noFill/>
        </p:spPr>
        <p:txBody>
          <a:bodyPr wrap="square" rtlCol="0">
            <a:spAutoFit/>
          </a:bodyPr>
          <a:lstStyle/>
          <a:p>
            <a:r>
              <a:rPr kumimoji="1" lang="en-US" altLang="zh-CN" b="1" dirty="0">
                <a:latin typeface="Arial" panose="020B0604020202020204" pitchFamily="34" charset="0"/>
                <a:cs typeface="Arial" panose="020B0604020202020204" pitchFamily="34" charset="0"/>
              </a:rPr>
              <a:t>Result 1</a:t>
            </a:r>
            <a:r>
              <a:rPr kumimoji="1" lang="en-US" altLang="zh-CN" dirty="0">
                <a:latin typeface="Arial" panose="020B0604020202020204" pitchFamily="34" charset="0"/>
                <a:cs typeface="Arial" panose="020B0604020202020204" pitchFamily="34" charset="0"/>
              </a:rPr>
              <a:t>:  Layer 3 is dominated by oligodendrocytes and may be a white matter region associated with myelination and neuroprotection.</a:t>
            </a:r>
            <a:endParaRPr kumimoji="1" lang="zh-CN" altLang="en-US"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6EEF4196-2768-5ECF-9780-E65BFC045AE7}"/>
              </a:ext>
            </a:extLst>
          </p:cNvPr>
          <p:cNvSpPr txBox="1"/>
          <p:nvPr/>
        </p:nvSpPr>
        <p:spPr>
          <a:xfrm>
            <a:off x="2732079" y="795582"/>
            <a:ext cx="3004457" cy="338554"/>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Volcano plot for GSM5591748</a:t>
            </a:r>
            <a:endParaRPr kumimoji="1" lang="zh-CN" altLang="en-US" sz="1600" dirty="0">
              <a:latin typeface="Arial" panose="020B0604020202020204" pitchFamily="34" charset="0"/>
              <a:cs typeface="Arial" panose="020B0604020202020204" pitchFamily="34" charset="0"/>
            </a:endParaRPr>
          </a:p>
        </p:txBody>
      </p:sp>
      <p:sp>
        <p:nvSpPr>
          <p:cNvPr id="8" name="椭圆 7">
            <a:extLst>
              <a:ext uri="{FF2B5EF4-FFF2-40B4-BE49-F238E27FC236}">
                <a16:creationId xmlns:a16="http://schemas.microsoft.com/office/drawing/2014/main" id="{87AF14DF-5AF5-324A-9850-050D7E4314E3}"/>
              </a:ext>
            </a:extLst>
          </p:cNvPr>
          <p:cNvSpPr/>
          <p:nvPr/>
        </p:nvSpPr>
        <p:spPr>
          <a:xfrm rot="21292347">
            <a:off x="5646513" y="1163440"/>
            <a:ext cx="908423" cy="6524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a:extLst>
              <a:ext uri="{FF2B5EF4-FFF2-40B4-BE49-F238E27FC236}">
                <a16:creationId xmlns:a16="http://schemas.microsoft.com/office/drawing/2014/main" id="{CD0CAE19-D738-256F-2DB2-6976C0FD3F58}"/>
              </a:ext>
            </a:extLst>
          </p:cNvPr>
          <p:cNvSpPr/>
          <p:nvPr/>
        </p:nvSpPr>
        <p:spPr>
          <a:xfrm rot="3118659">
            <a:off x="3153090" y="3896821"/>
            <a:ext cx="1104416" cy="824821"/>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a:extLst>
              <a:ext uri="{FF2B5EF4-FFF2-40B4-BE49-F238E27FC236}">
                <a16:creationId xmlns:a16="http://schemas.microsoft.com/office/drawing/2014/main" id="{46F0AA96-0C35-3D74-F813-EAA30E7F4ABB}"/>
              </a:ext>
            </a:extLst>
          </p:cNvPr>
          <p:cNvSpPr/>
          <p:nvPr/>
        </p:nvSpPr>
        <p:spPr>
          <a:xfrm rot="1926659">
            <a:off x="7498877" y="3832870"/>
            <a:ext cx="541175" cy="358393"/>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2ADDC7AC-76D3-9716-A068-CBE189F04338}"/>
              </a:ext>
            </a:extLst>
          </p:cNvPr>
          <p:cNvSpPr txBox="1"/>
          <p:nvPr/>
        </p:nvSpPr>
        <p:spPr>
          <a:xfrm>
            <a:off x="8815735" y="2801286"/>
            <a:ext cx="2279904" cy="338554"/>
          </a:xfrm>
          <a:prstGeom prst="rect">
            <a:avLst/>
          </a:prstGeom>
          <a:noFill/>
        </p:spPr>
        <p:txBody>
          <a:bodyPr wrap="square" rtlCol="0">
            <a:spAutoFit/>
          </a:bodyPr>
          <a:lstStyle/>
          <a:p>
            <a:pPr algn="ctr"/>
            <a:r>
              <a:rPr kumimoji="1" lang="en" altLang="zh-CN" sz="1600" dirty="0">
                <a:latin typeface="Arial" panose="020B0604020202020204" pitchFamily="34" charset="0"/>
                <a:cs typeface="Arial" panose="020B0604020202020204" pitchFamily="34" charset="0"/>
              </a:rPr>
              <a:t>Oligodendrocytes</a:t>
            </a:r>
            <a:endParaRPr kumimoji="1" lang="zh-CN" altLang="en-US" sz="1600" dirty="0">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BF2CB863-6CF0-237E-5B09-2A427E330270}"/>
              </a:ext>
            </a:extLst>
          </p:cNvPr>
          <p:cNvSpPr txBox="1"/>
          <p:nvPr/>
        </p:nvSpPr>
        <p:spPr>
          <a:xfrm>
            <a:off x="8154195" y="1602175"/>
            <a:ext cx="3744468" cy="844142"/>
          </a:xfrm>
          <a:prstGeom prst="rect">
            <a:avLst/>
          </a:prstGeom>
          <a:noFill/>
        </p:spPr>
        <p:txBody>
          <a:bodyPr wrap="square" rtlCol="0">
            <a:spAutoFit/>
          </a:bodyPr>
          <a:lstStyle/>
          <a:p>
            <a:pPr algn="ctr">
              <a:lnSpc>
                <a:spcPct val="120000"/>
              </a:lnSpc>
            </a:pPr>
            <a:r>
              <a:rPr kumimoji="1" lang="en-US" altLang="zh-CN" sz="1400" dirty="0">
                <a:latin typeface="Arial" panose="020B0604020202020204" pitchFamily="34" charset="0"/>
                <a:cs typeface="Arial" panose="020B0604020202020204" pitchFamily="34" charset="0"/>
              </a:rPr>
              <a:t>MBP --</a:t>
            </a:r>
            <a:r>
              <a:rPr kumimoji="1" lang="en" altLang="zh-CN" sz="1400" dirty="0">
                <a:latin typeface="Arial" panose="020B0604020202020204" pitchFamily="34" charset="0"/>
                <a:cs typeface="Arial" panose="020B0604020202020204" pitchFamily="34" charset="0"/>
              </a:rPr>
              <a:t> the important protein of myelination</a:t>
            </a:r>
            <a:endParaRPr kumimoji="1" lang="en-US" altLang="zh-CN" sz="1400" dirty="0">
              <a:latin typeface="Arial" panose="020B0604020202020204" pitchFamily="34" charset="0"/>
              <a:cs typeface="Arial" panose="020B0604020202020204" pitchFamily="34" charset="0"/>
            </a:endParaRPr>
          </a:p>
          <a:p>
            <a:pPr algn="ctr">
              <a:lnSpc>
                <a:spcPct val="120000"/>
              </a:lnSpc>
            </a:pPr>
            <a:r>
              <a:rPr kumimoji="1" lang="en-US" altLang="zh-CN" sz="1400" dirty="0">
                <a:latin typeface="Arial" panose="020B0604020202020204" pitchFamily="34" charset="0"/>
                <a:cs typeface="Arial" panose="020B0604020202020204" pitchFamily="34" charset="0"/>
              </a:rPr>
              <a:t>PLP1 -- </a:t>
            </a:r>
            <a:r>
              <a:rPr kumimoji="1" lang="en" altLang="zh-CN" sz="1400" dirty="0">
                <a:latin typeface="Arial" panose="020B0604020202020204" pitchFamily="34" charset="0"/>
                <a:cs typeface="Arial" panose="020B0604020202020204" pitchFamily="34" charset="0"/>
              </a:rPr>
              <a:t>the main protein of myelination</a:t>
            </a:r>
            <a:endParaRPr kumimoji="1" lang="en-US" altLang="zh-CN" sz="1400" dirty="0">
              <a:latin typeface="Arial" panose="020B0604020202020204" pitchFamily="34" charset="0"/>
              <a:cs typeface="Arial" panose="020B0604020202020204" pitchFamily="34" charset="0"/>
            </a:endParaRPr>
          </a:p>
          <a:p>
            <a:pPr algn="ctr">
              <a:lnSpc>
                <a:spcPct val="120000"/>
              </a:lnSpc>
            </a:pPr>
            <a:r>
              <a:rPr kumimoji="1" lang="en" altLang="zh-CN" sz="1400" dirty="0">
                <a:latin typeface="Arial" panose="020B0604020202020204" pitchFamily="34" charset="0"/>
                <a:cs typeface="Arial" panose="020B0604020202020204" pitchFamily="34" charset="0"/>
              </a:rPr>
              <a:t>CLDND1 </a:t>
            </a:r>
            <a:r>
              <a:rPr kumimoji="1" lang="en-US" altLang="zh-CN" sz="1400" dirty="0">
                <a:latin typeface="Arial" panose="020B0604020202020204" pitchFamily="34" charset="0"/>
                <a:cs typeface="Arial" panose="020B0604020202020204" pitchFamily="34" charset="0"/>
              </a:rPr>
              <a:t>--</a:t>
            </a:r>
            <a:r>
              <a:rPr kumimoji="1" lang="en" altLang="zh-CN" sz="1400" dirty="0">
                <a:latin typeface="Arial" panose="020B0604020202020204" pitchFamily="34" charset="0"/>
                <a:cs typeface="Arial" panose="020B0604020202020204" pitchFamily="34" charset="0"/>
              </a:rPr>
              <a:t> intercellular connectivity &amp; barrier</a:t>
            </a:r>
            <a:endParaRPr kumimoji="1" lang="zh-CN" altLang="en-US" sz="1400" dirty="0">
              <a:latin typeface="Arial" panose="020B0604020202020204" pitchFamily="34" charset="0"/>
              <a:cs typeface="Arial" panose="020B0604020202020204" pitchFamily="34" charset="0"/>
            </a:endParaRPr>
          </a:p>
        </p:txBody>
      </p:sp>
      <p:sp>
        <p:nvSpPr>
          <p:cNvPr id="13" name="下箭头 12">
            <a:extLst>
              <a:ext uri="{FF2B5EF4-FFF2-40B4-BE49-F238E27FC236}">
                <a16:creationId xmlns:a16="http://schemas.microsoft.com/office/drawing/2014/main" id="{E3F059FE-B6B4-7670-24B0-3EB609C4706C}"/>
              </a:ext>
            </a:extLst>
          </p:cNvPr>
          <p:cNvSpPr/>
          <p:nvPr/>
        </p:nvSpPr>
        <p:spPr>
          <a:xfrm>
            <a:off x="9777045" y="2533185"/>
            <a:ext cx="337625" cy="2681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1B985D5E-B0DA-AFC1-AA8F-E87F2382419C}"/>
              </a:ext>
            </a:extLst>
          </p:cNvPr>
          <p:cNvSpPr txBox="1"/>
          <p:nvPr/>
        </p:nvSpPr>
        <p:spPr>
          <a:xfrm>
            <a:off x="8154195" y="3437227"/>
            <a:ext cx="3744468" cy="585610"/>
          </a:xfrm>
          <a:prstGeom prst="rect">
            <a:avLst/>
          </a:prstGeom>
          <a:noFill/>
        </p:spPr>
        <p:txBody>
          <a:bodyPr wrap="square" rtlCol="0">
            <a:spAutoFit/>
          </a:bodyPr>
          <a:lstStyle/>
          <a:p>
            <a:pPr algn="ctr">
              <a:lnSpc>
                <a:spcPct val="120000"/>
              </a:lnSpc>
            </a:pPr>
            <a:r>
              <a:rPr kumimoji="1" lang="en-US" altLang="zh-CN" sz="1400" dirty="0">
                <a:latin typeface="Arial" panose="020B0604020202020204" pitchFamily="34" charset="0"/>
                <a:cs typeface="Arial" panose="020B0604020202020204" pitchFamily="34" charset="0"/>
              </a:rPr>
              <a:t>CRYAB –</a:t>
            </a:r>
            <a:r>
              <a:rPr kumimoji="1" lang="zh-CN" altLang="en-US" sz="1400" dirty="0">
                <a:latin typeface="Arial" panose="020B0604020202020204" pitchFamily="34" charset="0"/>
                <a:cs typeface="Arial" panose="020B0604020202020204" pitchFamily="34" charset="0"/>
              </a:rPr>
              <a:t> </a:t>
            </a:r>
            <a:r>
              <a:rPr kumimoji="1" lang="en-US" altLang="zh-CN" sz="1400" dirty="0">
                <a:latin typeface="Arial" panose="020B0604020202020204" pitchFamily="34" charset="0"/>
                <a:cs typeface="Arial" panose="020B0604020202020204" pitchFamily="34" charset="0"/>
              </a:rPr>
              <a:t>heat shock protein</a:t>
            </a:r>
          </a:p>
          <a:p>
            <a:pPr algn="ctr">
              <a:lnSpc>
                <a:spcPct val="120000"/>
              </a:lnSpc>
            </a:pPr>
            <a:r>
              <a:rPr kumimoji="1" lang="en-US" altLang="zh-CN" sz="1400" dirty="0">
                <a:latin typeface="Arial" panose="020B0604020202020204" pitchFamily="34" charset="0"/>
                <a:cs typeface="Arial" panose="020B0604020202020204" pitchFamily="34" charset="0"/>
              </a:rPr>
              <a:t>SELENOP</a:t>
            </a:r>
            <a:r>
              <a:rPr kumimoji="1" lang="zh-CN" altLang="en-US" sz="1400" dirty="0">
                <a:latin typeface="Arial" panose="020B0604020202020204" pitchFamily="34" charset="0"/>
                <a:cs typeface="Arial" panose="020B0604020202020204" pitchFamily="34" charset="0"/>
              </a:rPr>
              <a:t> </a:t>
            </a:r>
            <a:r>
              <a:rPr kumimoji="1" lang="en-US" altLang="zh-CN" sz="1400" dirty="0">
                <a:latin typeface="Arial" panose="020B0604020202020204" pitchFamily="34" charset="0"/>
                <a:cs typeface="Arial" panose="020B0604020202020204" pitchFamily="34" charset="0"/>
              </a:rPr>
              <a:t>--</a:t>
            </a:r>
            <a:r>
              <a:rPr kumimoji="1" lang="zh-CN" altLang="en-US" sz="1400" dirty="0">
                <a:latin typeface="Arial" panose="020B0604020202020204" pitchFamily="34" charset="0"/>
                <a:cs typeface="Arial" panose="020B0604020202020204" pitchFamily="34" charset="0"/>
              </a:rPr>
              <a:t> </a:t>
            </a:r>
            <a:r>
              <a:rPr kumimoji="1" lang="en" altLang="zh-CN" sz="1400" dirty="0" err="1">
                <a:latin typeface="Arial" panose="020B0604020202020204" pitchFamily="34" charset="0"/>
                <a:cs typeface="Arial" panose="020B0604020202020204" pitchFamily="34" charset="0"/>
              </a:rPr>
              <a:t>Selenoprotein</a:t>
            </a:r>
            <a:r>
              <a:rPr kumimoji="1" lang="en" altLang="zh-CN" sz="1400" dirty="0">
                <a:latin typeface="Arial" panose="020B0604020202020204" pitchFamily="34" charset="0"/>
                <a:cs typeface="Arial" panose="020B0604020202020204" pitchFamily="34" charset="0"/>
              </a:rPr>
              <a:t> P</a:t>
            </a:r>
            <a:endParaRPr kumimoji="1" lang="zh-CN" altLang="en-US" sz="1400" dirty="0">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4516BA7D-E6EA-96CE-FABD-02527CFA7355}"/>
              </a:ext>
            </a:extLst>
          </p:cNvPr>
          <p:cNvSpPr txBox="1"/>
          <p:nvPr/>
        </p:nvSpPr>
        <p:spPr>
          <a:xfrm>
            <a:off x="8798178" y="4374496"/>
            <a:ext cx="2279904" cy="338554"/>
          </a:xfrm>
          <a:prstGeom prst="rect">
            <a:avLst/>
          </a:prstGeom>
          <a:noFill/>
        </p:spPr>
        <p:txBody>
          <a:bodyPr wrap="square" rtlCol="0">
            <a:spAutoFit/>
          </a:bodyPr>
          <a:lstStyle/>
          <a:p>
            <a:pPr algn="ctr"/>
            <a:r>
              <a:rPr kumimoji="1" lang="en" altLang="zh-CN" sz="1600" dirty="0">
                <a:latin typeface="Arial" panose="020B0604020202020204" pitchFamily="34" charset="0"/>
                <a:cs typeface="Arial" panose="020B0604020202020204" pitchFamily="34" charset="0"/>
              </a:rPr>
              <a:t>Stress</a:t>
            </a:r>
            <a:endParaRPr kumimoji="1" lang="zh-CN" altLang="en-US" sz="1600" dirty="0">
              <a:latin typeface="Arial" panose="020B0604020202020204" pitchFamily="34" charset="0"/>
              <a:cs typeface="Arial" panose="020B0604020202020204" pitchFamily="34" charset="0"/>
            </a:endParaRPr>
          </a:p>
        </p:txBody>
      </p:sp>
      <p:sp>
        <p:nvSpPr>
          <p:cNvPr id="16" name="下箭头 15">
            <a:extLst>
              <a:ext uri="{FF2B5EF4-FFF2-40B4-BE49-F238E27FC236}">
                <a16:creationId xmlns:a16="http://schemas.microsoft.com/office/drawing/2014/main" id="{83CBEAE8-564F-4B1E-0CCB-292DE1A4757B}"/>
              </a:ext>
            </a:extLst>
          </p:cNvPr>
          <p:cNvSpPr/>
          <p:nvPr/>
        </p:nvSpPr>
        <p:spPr>
          <a:xfrm>
            <a:off x="9759488" y="4106395"/>
            <a:ext cx="337625" cy="2681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2162D339-F831-B7B5-D59D-4F70E78F36FB}"/>
              </a:ext>
            </a:extLst>
          </p:cNvPr>
          <p:cNvSpPr txBox="1"/>
          <p:nvPr/>
        </p:nvSpPr>
        <p:spPr>
          <a:xfrm>
            <a:off x="8923846" y="1041943"/>
            <a:ext cx="2063681" cy="369332"/>
          </a:xfrm>
          <a:prstGeom prst="rect">
            <a:avLst/>
          </a:prstGeom>
          <a:noFill/>
        </p:spPr>
        <p:txBody>
          <a:bodyPr wrap="square" rtlCol="0">
            <a:spAutoFit/>
          </a:bodyPr>
          <a:lstStyle/>
          <a:p>
            <a:pPr algn="ctr"/>
            <a:r>
              <a:rPr kumimoji="1" lang="en-US" altLang="zh-CN" dirty="0">
                <a:latin typeface="Arial" panose="020B0604020202020204" pitchFamily="34" charset="0"/>
                <a:cs typeface="Arial" panose="020B0604020202020204" pitchFamily="34" charset="0"/>
              </a:rPr>
              <a:t>High expression:</a:t>
            </a:r>
            <a:endParaRPr kumimoji="1" lang="zh-CN" altLang="en-US" dirty="0">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E7C5E106-6362-DC41-D3AA-9C67BC0D4EEE}"/>
              </a:ext>
            </a:extLst>
          </p:cNvPr>
          <p:cNvSpPr txBox="1"/>
          <p:nvPr/>
        </p:nvSpPr>
        <p:spPr>
          <a:xfrm>
            <a:off x="-1026942" y="2461846"/>
            <a:ext cx="184731" cy="369332"/>
          </a:xfrm>
          <a:prstGeom prst="rect">
            <a:avLst/>
          </a:prstGeom>
          <a:noFill/>
        </p:spPr>
        <p:txBody>
          <a:bodyPr wrap="none" rtlCol="0">
            <a:spAutoFit/>
          </a:bodyPr>
          <a:lstStyle/>
          <a:p>
            <a:endParaRPr kumimoji="1" lang="zh-CN" altLang="en-US" dirty="0"/>
          </a:p>
        </p:txBody>
      </p:sp>
      <p:sp>
        <p:nvSpPr>
          <p:cNvPr id="19" name="文本框 18">
            <a:extLst>
              <a:ext uri="{FF2B5EF4-FFF2-40B4-BE49-F238E27FC236}">
                <a16:creationId xmlns:a16="http://schemas.microsoft.com/office/drawing/2014/main" id="{CDBCE328-8928-C5B3-011D-846F7BCF0127}"/>
              </a:ext>
            </a:extLst>
          </p:cNvPr>
          <p:cNvSpPr txBox="1"/>
          <p:nvPr/>
        </p:nvSpPr>
        <p:spPr>
          <a:xfrm>
            <a:off x="-801858" y="1237957"/>
            <a:ext cx="184731" cy="369332"/>
          </a:xfrm>
          <a:prstGeom prst="rect">
            <a:avLst/>
          </a:prstGeom>
          <a:noFill/>
        </p:spPr>
        <p:txBody>
          <a:bodyPr wrap="none" rtlCol="0">
            <a:spAutoFit/>
          </a:bodyPr>
          <a:lstStyle/>
          <a:p>
            <a:endParaRPr kumimoji="1" lang="zh-CN" altLang="en-US" dirty="0"/>
          </a:p>
        </p:txBody>
      </p:sp>
      <p:sp>
        <p:nvSpPr>
          <p:cNvPr id="21" name="文本框 20">
            <a:extLst>
              <a:ext uri="{FF2B5EF4-FFF2-40B4-BE49-F238E27FC236}">
                <a16:creationId xmlns:a16="http://schemas.microsoft.com/office/drawing/2014/main" id="{3B9E7F14-5DC1-92CF-DE43-7FC6920A8F7D}"/>
              </a:ext>
            </a:extLst>
          </p:cNvPr>
          <p:cNvSpPr txBox="1"/>
          <p:nvPr/>
        </p:nvSpPr>
        <p:spPr>
          <a:xfrm>
            <a:off x="8370277" y="4304714"/>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294547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8" grpId="1" animBg="1"/>
      <p:bldP spid="9" grpId="0" animBg="1"/>
      <p:bldP spid="9" grpId="1" animBg="1"/>
      <p:bldP spid="10" grpId="0" animBg="1"/>
      <p:bldP spid="10" grpId="1" animBg="1"/>
      <p:bldP spid="11" grpId="0"/>
      <p:bldP spid="12" grpId="0"/>
      <p:bldP spid="13" grpId="0" animBg="1"/>
      <p:bldP spid="14" grpId="0"/>
      <p:bldP spid="15" grpId="0"/>
      <p:bldP spid="16" grpId="0" animBg="1"/>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138A-B2EF-3E0B-BCEF-75D29FE3B487}"/>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CD1B7DDA-2E0B-B344-D36E-06EE210ABBB9}"/>
              </a:ext>
            </a:extLst>
          </p:cNvPr>
          <p:cNvPicPr>
            <a:picLocks noChangeAspect="1"/>
          </p:cNvPicPr>
          <p:nvPr/>
        </p:nvPicPr>
        <p:blipFill>
          <a:blip r:embed="rId3"/>
          <a:srcRect t="2809"/>
          <a:stretch/>
        </p:blipFill>
        <p:spPr>
          <a:xfrm>
            <a:off x="215587" y="1139686"/>
            <a:ext cx="7772400" cy="5665588"/>
          </a:xfrm>
          <a:prstGeom prst="rect">
            <a:avLst/>
          </a:prstGeom>
        </p:spPr>
      </p:pic>
      <p:sp>
        <p:nvSpPr>
          <p:cNvPr id="2" name="标题 1">
            <a:extLst>
              <a:ext uri="{FF2B5EF4-FFF2-40B4-BE49-F238E27FC236}">
                <a16:creationId xmlns:a16="http://schemas.microsoft.com/office/drawing/2014/main" id="{86B93AF8-8A72-1E34-AC34-C4C721214D8C}"/>
              </a:ext>
            </a:extLst>
          </p:cNvPr>
          <p:cNvSpPr>
            <a:spLocks noGrp="1"/>
          </p:cNvSpPr>
          <p:nvPr>
            <p:ph type="title"/>
          </p:nvPr>
        </p:nvSpPr>
        <p:spPr>
          <a:xfrm>
            <a:off x="356447" y="197132"/>
            <a:ext cx="11680382" cy="711320"/>
          </a:xfrm>
        </p:spPr>
        <p:txBody>
          <a:bodyPr>
            <a:noAutofit/>
          </a:bodyPr>
          <a:lstStyle/>
          <a:p>
            <a:r>
              <a:rPr lang="en-US" altLang="zh-CN" sz="2400" dirty="0">
                <a:solidFill>
                  <a:srgbClr val="000000"/>
                </a:solidFill>
                <a:effectLst/>
                <a:latin typeface="Arial" panose="020B0604020202020204" pitchFamily="34" charset="0"/>
                <a:cs typeface="Arial" panose="020B0604020202020204" pitchFamily="34" charset="0"/>
              </a:rPr>
              <a:t>Several genes exhibit different expression across different layers</a:t>
            </a:r>
            <a:endParaRPr lang="en" altLang="zh-CN" sz="1400"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911015D1-4394-FF0D-FD76-8C20910BBC87}"/>
              </a:ext>
            </a:extLst>
          </p:cNvPr>
          <p:cNvSpPr txBox="1"/>
          <p:nvPr/>
        </p:nvSpPr>
        <p:spPr>
          <a:xfrm>
            <a:off x="8156708" y="4818332"/>
            <a:ext cx="3880121" cy="1754326"/>
          </a:xfrm>
          <a:prstGeom prst="rect">
            <a:avLst/>
          </a:prstGeom>
          <a:noFill/>
        </p:spPr>
        <p:txBody>
          <a:bodyPr wrap="square" rtlCol="0">
            <a:spAutoFit/>
          </a:bodyPr>
          <a:lstStyle/>
          <a:p>
            <a:r>
              <a:rPr kumimoji="1" lang="en-US" altLang="zh-CN" b="1" dirty="0">
                <a:latin typeface="Arial" panose="020B0604020202020204" pitchFamily="34" charset="0"/>
                <a:cs typeface="Arial" panose="020B0604020202020204" pitchFamily="34" charset="0"/>
              </a:rPr>
              <a:t>Result 2</a:t>
            </a:r>
            <a:r>
              <a:rPr kumimoji="1" lang="en-US" altLang="zh-CN" dirty="0">
                <a:latin typeface="Arial" panose="020B0604020202020204" pitchFamily="34" charset="0"/>
                <a:cs typeface="Arial" panose="020B0604020202020204" pitchFamily="34" charset="0"/>
              </a:rPr>
              <a:t>:  Layer 2 may represent a functional area dominated by neurons, such as the gray matter, associated with nerve signaling and synaptic function.</a:t>
            </a:r>
          </a:p>
          <a:p>
            <a:endParaRPr kumimoji="1" lang="zh-CN" altLang="en-US" dirty="0">
              <a:latin typeface="Arial" panose="020B0604020202020204" pitchFamily="34" charset="0"/>
              <a:cs typeface="Arial" panose="020B0604020202020204" pitchFamily="34" charset="0"/>
            </a:endParaRPr>
          </a:p>
        </p:txBody>
      </p:sp>
      <p:sp>
        <p:nvSpPr>
          <p:cNvPr id="4" name="椭圆 3">
            <a:extLst>
              <a:ext uri="{FF2B5EF4-FFF2-40B4-BE49-F238E27FC236}">
                <a16:creationId xmlns:a16="http://schemas.microsoft.com/office/drawing/2014/main" id="{6A0DC139-A65D-FD0A-722F-837EA3FD3029}"/>
              </a:ext>
            </a:extLst>
          </p:cNvPr>
          <p:cNvSpPr/>
          <p:nvPr/>
        </p:nvSpPr>
        <p:spPr>
          <a:xfrm rot="8003117">
            <a:off x="4720240" y="2224370"/>
            <a:ext cx="741545" cy="454567"/>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a:extLst>
              <a:ext uri="{FF2B5EF4-FFF2-40B4-BE49-F238E27FC236}">
                <a16:creationId xmlns:a16="http://schemas.microsoft.com/office/drawing/2014/main" id="{1C5632B7-3730-BB46-FEB2-EFAC1F57F351}"/>
              </a:ext>
            </a:extLst>
          </p:cNvPr>
          <p:cNvSpPr/>
          <p:nvPr/>
        </p:nvSpPr>
        <p:spPr>
          <a:xfrm rot="4983797">
            <a:off x="2077369" y="4123096"/>
            <a:ext cx="1034209" cy="575564"/>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3A798F92-7974-1B99-B783-6A231D2620CF}"/>
              </a:ext>
            </a:extLst>
          </p:cNvPr>
          <p:cNvSpPr txBox="1"/>
          <p:nvPr/>
        </p:nvSpPr>
        <p:spPr>
          <a:xfrm>
            <a:off x="8988265" y="3284370"/>
            <a:ext cx="2279904" cy="338554"/>
          </a:xfrm>
          <a:prstGeom prst="rect">
            <a:avLst/>
          </a:prstGeom>
          <a:noFill/>
        </p:spPr>
        <p:txBody>
          <a:bodyPr wrap="square" rtlCol="0">
            <a:spAutoFit/>
          </a:bodyPr>
          <a:lstStyle/>
          <a:p>
            <a:pPr algn="ctr"/>
            <a:r>
              <a:rPr kumimoji="1" lang="en" altLang="zh-CN" sz="1600" dirty="0">
                <a:latin typeface="Arial" panose="020B0604020202020204" pitchFamily="34" charset="0"/>
                <a:cs typeface="Arial" panose="020B0604020202020204" pitchFamily="34" charset="0"/>
              </a:rPr>
              <a:t>Neuron</a:t>
            </a:r>
            <a:endParaRPr kumimoji="1" lang="zh-CN" altLang="en-US" sz="1600"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36B01E27-4D63-2A07-170B-EBF8C5203C40}"/>
              </a:ext>
            </a:extLst>
          </p:cNvPr>
          <p:cNvSpPr txBox="1"/>
          <p:nvPr/>
        </p:nvSpPr>
        <p:spPr>
          <a:xfrm>
            <a:off x="7909089" y="1878223"/>
            <a:ext cx="4524866" cy="844142"/>
          </a:xfrm>
          <a:prstGeom prst="rect">
            <a:avLst/>
          </a:prstGeom>
          <a:noFill/>
        </p:spPr>
        <p:txBody>
          <a:bodyPr wrap="square" rtlCol="0">
            <a:spAutoFit/>
          </a:bodyPr>
          <a:lstStyle/>
          <a:p>
            <a:pPr algn="ctr">
              <a:lnSpc>
                <a:spcPct val="120000"/>
              </a:lnSpc>
            </a:pPr>
            <a:r>
              <a:rPr kumimoji="1" lang="en-US" altLang="zh-CN" sz="1400" dirty="0">
                <a:latin typeface="Arial" panose="020B0604020202020204" pitchFamily="34" charset="0"/>
                <a:cs typeface="Arial" panose="020B0604020202020204" pitchFamily="34" charset="0"/>
              </a:rPr>
              <a:t>SNAP25 -- </a:t>
            </a:r>
            <a:r>
              <a:rPr kumimoji="1" lang="en" altLang="zh-CN" sz="1400" dirty="0">
                <a:latin typeface="Arial" panose="020B0604020202020204" pitchFamily="34" charset="0"/>
                <a:cs typeface="Arial" panose="020B0604020202020204" pitchFamily="34" charset="0"/>
              </a:rPr>
              <a:t>key protein for synaptic vesicle fusion</a:t>
            </a:r>
            <a:endParaRPr kumimoji="1" lang="en-US" altLang="zh-CN" sz="1400" dirty="0">
              <a:latin typeface="Arial" panose="020B0604020202020204" pitchFamily="34" charset="0"/>
              <a:cs typeface="Arial" panose="020B0604020202020204" pitchFamily="34" charset="0"/>
            </a:endParaRPr>
          </a:p>
          <a:p>
            <a:pPr algn="ctr">
              <a:lnSpc>
                <a:spcPct val="120000"/>
              </a:lnSpc>
            </a:pPr>
            <a:r>
              <a:rPr kumimoji="1" lang="en" altLang="zh-CN" sz="1400" dirty="0">
                <a:latin typeface="Arial" panose="020B0604020202020204" pitchFamily="34" charset="0"/>
                <a:cs typeface="Arial" panose="020B0604020202020204" pitchFamily="34" charset="0"/>
              </a:rPr>
              <a:t>SYT1 </a:t>
            </a:r>
            <a:r>
              <a:rPr kumimoji="1" lang="en-US" altLang="zh-CN" sz="1400" dirty="0">
                <a:latin typeface="Arial" panose="020B0604020202020204" pitchFamily="34" charset="0"/>
                <a:cs typeface="Arial" panose="020B0604020202020204" pitchFamily="34" charset="0"/>
              </a:rPr>
              <a:t>--</a:t>
            </a:r>
            <a:r>
              <a:rPr kumimoji="1" lang="en" altLang="zh-CN" sz="1400" dirty="0">
                <a:latin typeface="Arial" panose="020B0604020202020204" pitchFamily="34" charset="0"/>
                <a:cs typeface="Arial" panose="020B0604020202020204" pitchFamily="34" charset="0"/>
              </a:rPr>
              <a:t> Ca-dependent neurotransmitter release</a:t>
            </a:r>
          </a:p>
          <a:p>
            <a:pPr algn="ctr">
              <a:lnSpc>
                <a:spcPct val="120000"/>
              </a:lnSpc>
            </a:pPr>
            <a:r>
              <a:rPr kumimoji="1" lang="en" altLang="zh-CN" sz="1400" dirty="0">
                <a:latin typeface="Arial" panose="020B0604020202020204" pitchFamily="34" charset="0"/>
                <a:cs typeface="Arial" panose="020B0604020202020204" pitchFamily="34" charset="0"/>
              </a:rPr>
              <a:t>VSNL1</a:t>
            </a:r>
            <a:r>
              <a:rPr kumimoji="1" lang="zh-CN" altLang="en-US" sz="1400" dirty="0">
                <a:latin typeface="Arial" panose="020B0604020202020204" pitchFamily="34" charset="0"/>
                <a:cs typeface="Arial" panose="020B0604020202020204" pitchFamily="34" charset="0"/>
              </a:rPr>
              <a:t> </a:t>
            </a:r>
            <a:r>
              <a:rPr kumimoji="1" lang="en-US" altLang="zh-CN" sz="1400" dirty="0">
                <a:latin typeface="Arial" panose="020B0604020202020204" pitchFamily="34" charset="0"/>
                <a:cs typeface="Arial" panose="020B0604020202020204" pitchFamily="34" charset="0"/>
              </a:rPr>
              <a:t>– neuronal Ca2+ sensor protein family</a:t>
            </a:r>
            <a:endParaRPr kumimoji="1" lang="zh-CN" altLang="en-US" sz="1400" dirty="0">
              <a:latin typeface="Arial" panose="020B0604020202020204" pitchFamily="34" charset="0"/>
              <a:cs typeface="Arial" panose="020B0604020202020204" pitchFamily="34" charset="0"/>
            </a:endParaRPr>
          </a:p>
        </p:txBody>
      </p:sp>
      <p:sp>
        <p:nvSpPr>
          <p:cNvPr id="11" name="下箭头 10">
            <a:extLst>
              <a:ext uri="{FF2B5EF4-FFF2-40B4-BE49-F238E27FC236}">
                <a16:creationId xmlns:a16="http://schemas.microsoft.com/office/drawing/2014/main" id="{4F8F5079-0BDA-A388-90A5-D2443A3D178B}"/>
              </a:ext>
            </a:extLst>
          </p:cNvPr>
          <p:cNvSpPr/>
          <p:nvPr/>
        </p:nvSpPr>
        <p:spPr>
          <a:xfrm>
            <a:off x="9949575" y="2930004"/>
            <a:ext cx="337625" cy="2681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2BB56CB4-8F0C-7968-8DB3-01B0B3ECB4AE}"/>
              </a:ext>
            </a:extLst>
          </p:cNvPr>
          <p:cNvSpPr txBox="1"/>
          <p:nvPr/>
        </p:nvSpPr>
        <p:spPr>
          <a:xfrm>
            <a:off x="9130882" y="1317991"/>
            <a:ext cx="2063681" cy="369332"/>
          </a:xfrm>
          <a:prstGeom prst="rect">
            <a:avLst/>
          </a:prstGeom>
          <a:noFill/>
        </p:spPr>
        <p:txBody>
          <a:bodyPr wrap="square" rtlCol="0">
            <a:spAutoFit/>
          </a:bodyPr>
          <a:lstStyle/>
          <a:p>
            <a:pPr algn="ctr"/>
            <a:r>
              <a:rPr kumimoji="1" lang="en-US" altLang="zh-CN" dirty="0">
                <a:latin typeface="Arial" panose="020B0604020202020204" pitchFamily="34" charset="0"/>
                <a:cs typeface="Arial" panose="020B0604020202020204" pitchFamily="34" charset="0"/>
              </a:rPr>
              <a:t>High expression:</a:t>
            </a:r>
            <a:endParaRPr kumimoji="1" lang="zh-CN" altLang="en-US" dirty="0">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EE0D09A6-3C33-AFCB-F0D4-45ED58BC4095}"/>
              </a:ext>
            </a:extLst>
          </p:cNvPr>
          <p:cNvSpPr txBox="1"/>
          <p:nvPr/>
        </p:nvSpPr>
        <p:spPr>
          <a:xfrm>
            <a:off x="2732079" y="795582"/>
            <a:ext cx="3004457" cy="338554"/>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Volcano plot for GSM5591748</a:t>
            </a:r>
            <a:endParaRPr kumimoji="1" lang="zh-CN" alt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988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8" grpId="0" animBg="1"/>
      <p:bldP spid="9" grpId="0"/>
      <p:bldP spid="10" grpId="0"/>
      <p:bldP spid="11" grpId="0" animBg="1"/>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795D-4BE8-A611-2DA0-88BD6F2A29D6}"/>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E3FEA224-8CDB-370F-334A-36E79B35EBA6}"/>
              </a:ext>
            </a:extLst>
          </p:cNvPr>
          <p:cNvPicPr>
            <a:picLocks noChangeAspect="1"/>
          </p:cNvPicPr>
          <p:nvPr/>
        </p:nvPicPr>
        <p:blipFill>
          <a:blip r:embed="rId3"/>
          <a:srcRect t="2809"/>
          <a:stretch/>
        </p:blipFill>
        <p:spPr>
          <a:xfrm>
            <a:off x="215587" y="1139686"/>
            <a:ext cx="7772400" cy="5665588"/>
          </a:xfrm>
          <a:prstGeom prst="rect">
            <a:avLst/>
          </a:prstGeom>
        </p:spPr>
      </p:pic>
      <p:sp>
        <p:nvSpPr>
          <p:cNvPr id="2" name="标题 1">
            <a:extLst>
              <a:ext uri="{FF2B5EF4-FFF2-40B4-BE49-F238E27FC236}">
                <a16:creationId xmlns:a16="http://schemas.microsoft.com/office/drawing/2014/main" id="{0E11E701-8D59-E995-4969-8FF47829CBE6}"/>
              </a:ext>
            </a:extLst>
          </p:cNvPr>
          <p:cNvSpPr>
            <a:spLocks noGrp="1"/>
          </p:cNvSpPr>
          <p:nvPr>
            <p:ph type="title"/>
          </p:nvPr>
        </p:nvSpPr>
        <p:spPr>
          <a:xfrm>
            <a:off x="356447" y="197132"/>
            <a:ext cx="11680382" cy="711320"/>
          </a:xfrm>
        </p:spPr>
        <p:txBody>
          <a:bodyPr>
            <a:noAutofit/>
          </a:bodyPr>
          <a:lstStyle/>
          <a:p>
            <a:r>
              <a:rPr lang="en-US" altLang="zh-CN" sz="2400" dirty="0">
                <a:solidFill>
                  <a:srgbClr val="000000"/>
                </a:solidFill>
                <a:effectLst/>
                <a:latin typeface="Arial" panose="020B0604020202020204" pitchFamily="34" charset="0"/>
                <a:cs typeface="Arial" panose="020B0604020202020204" pitchFamily="34" charset="0"/>
              </a:rPr>
              <a:t>Several genes exhibit different expression across different layers</a:t>
            </a:r>
            <a:endParaRPr lang="en" altLang="zh-CN" sz="1400"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9BE0DA26-0E49-542B-8C4F-2647BD30C21D}"/>
              </a:ext>
            </a:extLst>
          </p:cNvPr>
          <p:cNvSpPr txBox="1"/>
          <p:nvPr/>
        </p:nvSpPr>
        <p:spPr>
          <a:xfrm>
            <a:off x="8096292" y="1134136"/>
            <a:ext cx="3880121" cy="1200329"/>
          </a:xfrm>
          <a:prstGeom prst="rect">
            <a:avLst/>
          </a:prstGeom>
          <a:noFill/>
        </p:spPr>
        <p:txBody>
          <a:bodyPr wrap="square" rtlCol="0">
            <a:spAutoFit/>
          </a:bodyPr>
          <a:lstStyle/>
          <a:p>
            <a:r>
              <a:rPr kumimoji="1" lang="en-US" altLang="zh-CN" b="1" dirty="0">
                <a:latin typeface="Arial" panose="020B0604020202020204" pitchFamily="34" charset="0"/>
                <a:cs typeface="Arial" panose="020B0604020202020204" pitchFamily="34" charset="0"/>
              </a:rPr>
              <a:t>Result 3</a:t>
            </a:r>
            <a:r>
              <a:rPr kumimoji="1" lang="en-US" altLang="zh-CN" dirty="0">
                <a:latin typeface="Arial" panose="020B0604020202020204" pitchFamily="34" charset="0"/>
                <a:cs typeface="Arial" panose="020B0604020202020204" pitchFamily="34" charset="0"/>
              </a:rPr>
              <a:t>:  Layer 1 may represent a mixed region containing white matter (oligodendrocytes) and gray matter (neurons).</a:t>
            </a:r>
            <a:endParaRPr kumimoji="1" lang="zh-CN" altLang="en-US" dirty="0">
              <a:latin typeface="Arial" panose="020B0604020202020204" pitchFamily="34" charset="0"/>
              <a:cs typeface="Arial" panose="020B0604020202020204" pitchFamily="34" charset="0"/>
            </a:endParaRPr>
          </a:p>
        </p:txBody>
      </p:sp>
      <p:sp>
        <p:nvSpPr>
          <p:cNvPr id="4" name="椭圆 3">
            <a:extLst>
              <a:ext uri="{FF2B5EF4-FFF2-40B4-BE49-F238E27FC236}">
                <a16:creationId xmlns:a16="http://schemas.microsoft.com/office/drawing/2014/main" id="{81F4806C-86B8-97F3-74F9-856DBA3A6ADE}"/>
              </a:ext>
            </a:extLst>
          </p:cNvPr>
          <p:cNvSpPr/>
          <p:nvPr/>
        </p:nvSpPr>
        <p:spPr>
          <a:xfrm rot="8003117">
            <a:off x="2176480" y="1140096"/>
            <a:ext cx="694215" cy="906467"/>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a:extLst>
              <a:ext uri="{FF2B5EF4-FFF2-40B4-BE49-F238E27FC236}">
                <a16:creationId xmlns:a16="http://schemas.microsoft.com/office/drawing/2014/main" id="{63C2E736-1632-454B-2FBB-CE9BF61DEAB2}"/>
              </a:ext>
            </a:extLst>
          </p:cNvPr>
          <p:cNvSpPr/>
          <p:nvPr/>
        </p:nvSpPr>
        <p:spPr>
          <a:xfrm rot="4983797">
            <a:off x="3206751" y="3787847"/>
            <a:ext cx="1034209" cy="95052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4C6DCF4F-9A3E-4AF3-9FAE-D104D84E662F}"/>
              </a:ext>
            </a:extLst>
          </p:cNvPr>
          <p:cNvSpPr txBox="1"/>
          <p:nvPr/>
        </p:nvSpPr>
        <p:spPr>
          <a:xfrm>
            <a:off x="2732079" y="795582"/>
            <a:ext cx="3004457" cy="338554"/>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Volcano plot for GSM5591748</a:t>
            </a:r>
            <a:endParaRPr kumimoji="1" lang="zh-CN" alt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8780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DCFBB-728D-2608-1D96-C3A2E6D86522}"/>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9D894C3A-F155-AF90-EEE9-01F1E2FE8508}"/>
              </a:ext>
            </a:extLst>
          </p:cNvPr>
          <p:cNvPicPr>
            <a:picLocks noChangeAspect="1"/>
          </p:cNvPicPr>
          <p:nvPr/>
        </p:nvPicPr>
        <p:blipFill>
          <a:blip r:embed="rId3"/>
          <a:srcRect t="2809"/>
          <a:stretch/>
        </p:blipFill>
        <p:spPr>
          <a:xfrm>
            <a:off x="215587" y="1139686"/>
            <a:ext cx="7772400" cy="5665588"/>
          </a:xfrm>
          <a:prstGeom prst="rect">
            <a:avLst/>
          </a:prstGeom>
        </p:spPr>
      </p:pic>
      <p:sp>
        <p:nvSpPr>
          <p:cNvPr id="2" name="标题 1">
            <a:extLst>
              <a:ext uri="{FF2B5EF4-FFF2-40B4-BE49-F238E27FC236}">
                <a16:creationId xmlns:a16="http://schemas.microsoft.com/office/drawing/2014/main" id="{1B75ED6E-3966-4976-9D4B-529893380D0C}"/>
              </a:ext>
            </a:extLst>
          </p:cNvPr>
          <p:cNvSpPr>
            <a:spLocks noGrp="1"/>
          </p:cNvSpPr>
          <p:nvPr>
            <p:ph type="title"/>
          </p:nvPr>
        </p:nvSpPr>
        <p:spPr>
          <a:xfrm>
            <a:off x="356447" y="197132"/>
            <a:ext cx="11680382" cy="711320"/>
          </a:xfrm>
        </p:spPr>
        <p:txBody>
          <a:bodyPr>
            <a:noAutofit/>
          </a:bodyPr>
          <a:lstStyle/>
          <a:p>
            <a:r>
              <a:rPr lang="en-US" altLang="zh-CN" sz="2400" dirty="0">
                <a:solidFill>
                  <a:srgbClr val="000000"/>
                </a:solidFill>
                <a:effectLst/>
                <a:latin typeface="Arial" panose="020B0604020202020204" pitchFamily="34" charset="0"/>
                <a:cs typeface="Arial" panose="020B0604020202020204" pitchFamily="34" charset="0"/>
              </a:rPr>
              <a:t>Several genes exhibit different expression across different layers</a:t>
            </a:r>
            <a:endParaRPr lang="en" altLang="zh-CN" sz="1400"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A0CC012D-F58D-8B24-E466-4B8F3856AB8D}"/>
              </a:ext>
            </a:extLst>
          </p:cNvPr>
          <p:cNvSpPr txBox="1"/>
          <p:nvPr/>
        </p:nvSpPr>
        <p:spPr>
          <a:xfrm>
            <a:off x="8096292" y="1134136"/>
            <a:ext cx="3880121" cy="1200329"/>
          </a:xfrm>
          <a:prstGeom prst="rect">
            <a:avLst/>
          </a:prstGeom>
          <a:noFill/>
        </p:spPr>
        <p:txBody>
          <a:bodyPr wrap="square" rtlCol="0">
            <a:spAutoFit/>
          </a:bodyPr>
          <a:lstStyle/>
          <a:p>
            <a:r>
              <a:rPr kumimoji="1" lang="en-US" altLang="zh-CN" b="1" dirty="0">
                <a:latin typeface="Arial" panose="020B0604020202020204" pitchFamily="34" charset="0"/>
                <a:cs typeface="Arial" panose="020B0604020202020204" pitchFamily="34" charset="0"/>
              </a:rPr>
              <a:t>Result 3</a:t>
            </a:r>
            <a:r>
              <a:rPr kumimoji="1" lang="en-US" altLang="zh-CN" dirty="0">
                <a:latin typeface="Arial" panose="020B0604020202020204" pitchFamily="34" charset="0"/>
                <a:cs typeface="Arial" panose="020B0604020202020204" pitchFamily="34" charset="0"/>
              </a:rPr>
              <a:t>:  Layer 1 may represent a mixed region containing white matter (oligodendrocytes) and gray matter (neurons).</a:t>
            </a:r>
            <a:endParaRPr kumimoji="1" lang="zh-CN" altLang="en-US" dirty="0">
              <a:latin typeface="Arial" panose="020B0604020202020204" pitchFamily="34" charset="0"/>
              <a:cs typeface="Arial" panose="020B0604020202020204" pitchFamily="34" charset="0"/>
            </a:endParaRPr>
          </a:p>
        </p:txBody>
      </p:sp>
      <p:sp>
        <p:nvSpPr>
          <p:cNvPr id="4" name="椭圆 3">
            <a:extLst>
              <a:ext uri="{FF2B5EF4-FFF2-40B4-BE49-F238E27FC236}">
                <a16:creationId xmlns:a16="http://schemas.microsoft.com/office/drawing/2014/main" id="{1B46C48B-DB8A-0C23-1C0D-C46EA8A8419A}"/>
              </a:ext>
            </a:extLst>
          </p:cNvPr>
          <p:cNvSpPr/>
          <p:nvPr/>
        </p:nvSpPr>
        <p:spPr>
          <a:xfrm rot="9862690">
            <a:off x="2283869" y="3894785"/>
            <a:ext cx="601282" cy="961854"/>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a:extLst>
              <a:ext uri="{FF2B5EF4-FFF2-40B4-BE49-F238E27FC236}">
                <a16:creationId xmlns:a16="http://schemas.microsoft.com/office/drawing/2014/main" id="{B28FDCBA-4A75-5320-4C23-F04ABD92F0E4}"/>
              </a:ext>
            </a:extLst>
          </p:cNvPr>
          <p:cNvSpPr/>
          <p:nvPr/>
        </p:nvSpPr>
        <p:spPr>
          <a:xfrm rot="5677916">
            <a:off x="6687755" y="4306768"/>
            <a:ext cx="1998190" cy="82417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42E73391-D261-B074-A56A-20F04B6182AB}"/>
              </a:ext>
            </a:extLst>
          </p:cNvPr>
          <p:cNvSpPr txBox="1"/>
          <p:nvPr/>
        </p:nvSpPr>
        <p:spPr>
          <a:xfrm>
            <a:off x="2732079" y="795582"/>
            <a:ext cx="3004457" cy="338554"/>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Volcano plot for GSM5591748</a:t>
            </a:r>
            <a:endParaRPr kumimoji="1" lang="zh-CN" altLang="en-US" sz="1600" dirty="0">
              <a:latin typeface="Arial" panose="020B0604020202020204" pitchFamily="34" charset="0"/>
              <a:cs typeface="Arial" panose="020B0604020202020204" pitchFamily="34" charset="0"/>
            </a:endParaRPr>
          </a:p>
        </p:txBody>
      </p:sp>
      <p:sp>
        <p:nvSpPr>
          <p:cNvPr id="5" name="椭圆 4">
            <a:extLst>
              <a:ext uri="{FF2B5EF4-FFF2-40B4-BE49-F238E27FC236}">
                <a16:creationId xmlns:a16="http://schemas.microsoft.com/office/drawing/2014/main" id="{8F2A8CEF-E95A-9F5E-4C66-AEFA02CBE5C7}"/>
              </a:ext>
            </a:extLst>
          </p:cNvPr>
          <p:cNvSpPr/>
          <p:nvPr/>
        </p:nvSpPr>
        <p:spPr>
          <a:xfrm rot="3713373">
            <a:off x="2043689" y="1254004"/>
            <a:ext cx="967066" cy="740332"/>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6" name="文本框 5">
            <a:extLst>
              <a:ext uri="{FF2B5EF4-FFF2-40B4-BE49-F238E27FC236}">
                <a16:creationId xmlns:a16="http://schemas.microsoft.com/office/drawing/2014/main" id="{53C0D590-DA6D-E6DB-5282-366B81C9B669}"/>
              </a:ext>
            </a:extLst>
          </p:cNvPr>
          <p:cNvSpPr txBox="1"/>
          <p:nvPr/>
        </p:nvSpPr>
        <p:spPr>
          <a:xfrm>
            <a:off x="8096292" y="2753811"/>
            <a:ext cx="3880121" cy="1754326"/>
          </a:xfrm>
          <a:prstGeom prst="rect">
            <a:avLst/>
          </a:prstGeom>
          <a:noFill/>
        </p:spPr>
        <p:txBody>
          <a:bodyPr wrap="square" rtlCol="0">
            <a:spAutoFit/>
          </a:bodyPr>
          <a:lstStyle/>
          <a:p>
            <a:r>
              <a:rPr kumimoji="1" lang="en-US" altLang="zh-CN" b="1" dirty="0">
                <a:latin typeface="Arial" panose="020B0604020202020204" pitchFamily="34" charset="0"/>
                <a:cs typeface="Arial" panose="020B0604020202020204" pitchFamily="34" charset="0"/>
              </a:rPr>
              <a:t>Result 4</a:t>
            </a:r>
            <a:r>
              <a:rPr kumimoji="1" lang="en-US" altLang="zh-CN" dirty="0">
                <a:latin typeface="Arial" panose="020B0604020202020204" pitchFamily="34" charset="0"/>
                <a:cs typeface="Arial" panose="020B0604020202020204" pitchFamily="34" charset="0"/>
              </a:rPr>
              <a:t>:  Layer 0  lacks significant neuronal or myelin-related functions.</a:t>
            </a:r>
          </a:p>
          <a:p>
            <a:r>
              <a:rPr kumimoji="1" lang="en-US" altLang="zh-CN" dirty="0">
                <a:latin typeface="Arial" panose="020B0604020202020204" pitchFamily="34" charset="0"/>
                <a:cs typeface="Arial" panose="020B0604020202020204" pitchFamily="34" charset="0"/>
              </a:rPr>
              <a:t>It may be rich in other cell types, such as astrocytes or microglia, or  may be less functionally active areas of brain tissue.</a:t>
            </a:r>
            <a:endParaRPr kumimoji="1"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046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5" grpId="0" animBg="1"/>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3D828-562E-028B-8C16-7283BB7477E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391B5F-AB96-E566-AA46-C9444114A666}"/>
              </a:ext>
            </a:extLst>
          </p:cNvPr>
          <p:cNvSpPr/>
          <p:nvPr/>
        </p:nvSpPr>
        <p:spPr>
          <a:xfrm>
            <a:off x="-2130" y="1"/>
            <a:ext cx="1219413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zh-CN" altLang="en-US"/>
          </a:p>
        </p:txBody>
      </p:sp>
      <p:pic>
        <p:nvPicPr>
          <p:cNvPr id="1026" name="Picture 2" descr="Cover of Nature Methods Volume 18 Issue 1. (Image: Ludvig Larsson, Natalie Stakenborg, Joakim Lundeberg and Guy Boeckxstaens Cover Design: Thomas Phillips)">
            <a:extLst>
              <a:ext uri="{FF2B5EF4-FFF2-40B4-BE49-F238E27FC236}">
                <a16:creationId xmlns:a16="http://schemas.microsoft.com/office/drawing/2014/main" id="{ED452250-1A6F-EE86-79D4-4874EE7D7D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58" t="30476"/>
          <a:stretch/>
        </p:blipFill>
        <p:spPr bwMode="auto">
          <a:xfrm>
            <a:off x="7248698" y="1313969"/>
            <a:ext cx="4505498" cy="442590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445A2ED6-6B5B-A2C8-CBB4-01F85C637914}"/>
              </a:ext>
            </a:extLst>
          </p:cNvPr>
          <p:cNvSpPr>
            <a:spLocks noGrp="1"/>
          </p:cNvSpPr>
          <p:nvPr>
            <p:ph type="ctrTitle"/>
          </p:nvPr>
        </p:nvSpPr>
        <p:spPr>
          <a:xfrm>
            <a:off x="1033466" y="966100"/>
            <a:ext cx="6041306" cy="1579418"/>
          </a:xfrm>
        </p:spPr>
        <p:txBody>
          <a:bodyPr>
            <a:normAutofit/>
          </a:bodyPr>
          <a:lstStyle/>
          <a:p>
            <a:pPr>
              <a:lnSpc>
                <a:spcPct val="100000"/>
              </a:lnSpc>
            </a:pPr>
            <a:r>
              <a:rPr kumimoji="1" lang="en-US" altLang="zh-CN" sz="8000" b="1" dirty="0">
                <a:solidFill>
                  <a:schemeClr val="bg1"/>
                </a:solidFill>
                <a:latin typeface="Arial" panose="020B0604020202020204" pitchFamily="34" charset="0"/>
                <a:ea typeface="Microsoft YaHei" panose="020B0503020204020204" pitchFamily="34" charset="-122"/>
                <a:cs typeface="Arial" panose="020B0604020202020204" pitchFamily="34" charset="0"/>
              </a:rPr>
              <a:t>Thanks</a:t>
            </a:r>
            <a:r>
              <a:rPr kumimoji="1" lang="zh-CN" altLang="en-US" sz="6600" b="1" dirty="0">
                <a:solidFill>
                  <a:schemeClr val="bg1"/>
                </a:solidFill>
                <a:latin typeface="Arial" panose="020B0604020202020204" pitchFamily="34" charset="0"/>
                <a:ea typeface="Microsoft YaHei" panose="020B0503020204020204" pitchFamily="34" charset="-122"/>
                <a:cs typeface="Arial" panose="020B0604020202020204" pitchFamily="34" charset="0"/>
              </a:rPr>
              <a:t>！</a:t>
            </a:r>
          </a:p>
        </p:txBody>
      </p:sp>
      <p:sp>
        <p:nvSpPr>
          <p:cNvPr id="7" name="文本框 6">
            <a:extLst>
              <a:ext uri="{FF2B5EF4-FFF2-40B4-BE49-F238E27FC236}">
                <a16:creationId xmlns:a16="http://schemas.microsoft.com/office/drawing/2014/main" id="{077318B7-5BB7-FE96-FA36-1FC16CC67D65}"/>
              </a:ext>
            </a:extLst>
          </p:cNvPr>
          <p:cNvSpPr txBox="1"/>
          <p:nvPr/>
        </p:nvSpPr>
        <p:spPr>
          <a:xfrm>
            <a:off x="724371" y="2882835"/>
            <a:ext cx="6659495" cy="3231654"/>
          </a:xfrm>
          <a:prstGeom prst="rect">
            <a:avLst/>
          </a:prstGeom>
          <a:noFill/>
        </p:spPr>
        <p:txBody>
          <a:bodyPr wrap="square" rtlCol="0">
            <a:spAutoFit/>
          </a:bodyPr>
          <a:lstStyle/>
          <a:p>
            <a:r>
              <a:rPr lang="en" altLang="zh-CN" sz="2400" b="1" dirty="0">
                <a:solidFill>
                  <a:schemeClr val="bg1"/>
                </a:solidFill>
                <a:latin typeface="Arial" panose="020B0604020202020204" pitchFamily="34" charset="0"/>
                <a:cs typeface="Arial" panose="020B0604020202020204" pitchFamily="34" charset="0"/>
              </a:rPr>
              <a:t>Contributions:</a:t>
            </a:r>
          </a:p>
          <a:p>
            <a:pPr>
              <a:lnSpc>
                <a:spcPct val="150000"/>
              </a:lnSpc>
            </a:pPr>
            <a:endParaRPr lang="en" altLang="zh-CN" sz="1800" dirty="0">
              <a:solidFill>
                <a:schemeClr val="bg1"/>
              </a:solidFill>
              <a:effectLst/>
              <a:latin typeface="Arial" panose="020B0604020202020204" pitchFamily="34" charset="0"/>
              <a:cs typeface="Arial" panose="020B0604020202020204" pitchFamily="34" charset="0"/>
            </a:endParaRPr>
          </a:p>
          <a:p>
            <a:pPr>
              <a:lnSpc>
                <a:spcPct val="150000"/>
              </a:lnSpc>
            </a:pPr>
            <a:r>
              <a:rPr lang="en" altLang="zh-CN" dirty="0">
                <a:solidFill>
                  <a:schemeClr val="bg1"/>
                </a:solidFill>
                <a:latin typeface="Arial" panose="020B0604020202020204" pitchFamily="34" charset="0"/>
                <a:cs typeface="Arial" panose="020B0604020202020204" pitchFamily="34" charset="0"/>
              </a:rPr>
              <a:t>D</a:t>
            </a:r>
            <a:r>
              <a:rPr lang="en" altLang="zh-CN" sz="1800" dirty="0">
                <a:solidFill>
                  <a:schemeClr val="bg1"/>
                </a:solidFill>
                <a:effectLst/>
                <a:latin typeface="Arial" panose="020B0604020202020204" pitchFamily="34" charset="0"/>
                <a:cs typeface="Arial" panose="020B0604020202020204" pitchFamily="34" charset="0"/>
              </a:rPr>
              <a:t>ata: </a:t>
            </a:r>
            <a:r>
              <a:rPr lang="en" altLang="zh-CN" sz="1800" dirty="0" err="1">
                <a:solidFill>
                  <a:schemeClr val="bg1"/>
                </a:solidFill>
                <a:effectLst/>
                <a:latin typeface="Arial" panose="020B0604020202020204" pitchFamily="34" charset="0"/>
                <a:cs typeface="Arial" panose="020B0604020202020204" pitchFamily="34" charset="0"/>
              </a:rPr>
              <a:t>Chuyu</a:t>
            </a:r>
            <a:r>
              <a:rPr lang="en" altLang="zh-CN" sz="1800" dirty="0">
                <a:solidFill>
                  <a:schemeClr val="bg1"/>
                </a:solidFill>
                <a:effectLst/>
                <a:latin typeface="Arial" panose="020B0604020202020204" pitchFamily="34" charset="0"/>
                <a:cs typeface="Arial" panose="020B0604020202020204" pitchFamily="34" charset="0"/>
              </a:rPr>
              <a:t> QIAO</a:t>
            </a:r>
          </a:p>
          <a:p>
            <a:pPr>
              <a:lnSpc>
                <a:spcPct val="150000"/>
              </a:lnSpc>
            </a:pPr>
            <a:r>
              <a:rPr lang="en" altLang="zh-CN" sz="1800" dirty="0">
                <a:solidFill>
                  <a:schemeClr val="bg1"/>
                </a:solidFill>
                <a:effectLst/>
                <a:latin typeface="Arial" panose="020B0604020202020204" pitchFamily="34" charset="0"/>
                <a:cs typeface="Arial" panose="020B0604020202020204" pitchFamily="34" charset="0"/>
              </a:rPr>
              <a:t>Background: </a:t>
            </a:r>
            <a:r>
              <a:rPr lang="en-US" altLang="zh-CN" sz="1800" dirty="0">
                <a:solidFill>
                  <a:schemeClr val="bg1"/>
                </a:solidFill>
                <a:effectLst/>
                <a:latin typeface="Arial" panose="020B0604020202020204" pitchFamily="34" charset="0"/>
                <a:cs typeface="Arial" panose="020B0604020202020204" pitchFamily="34" charset="0"/>
              </a:rPr>
              <a:t>Tianyu CHEN &amp;</a:t>
            </a:r>
            <a:r>
              <a:rPr lang="zh-CN" altLang="en-US" sz="1800" dirty="0">
                <a:solidFill>
                  <a:schemeClr val="bg1"/>
                </a:solidFill>
                <a:effectLst/>
                <a:latin typeface="Arial" panose="020B0604020202020204" pitchFamily="34" charset="0"/>
                <a:cs typeface="Arial" panose="020B0604020202020204" pitchFamily="34" charset="0"/>
              </a:rPr>
              <a:t> </a:t>
            </a:r>
            <a:r>
              <a:rPr lang="en-US" altLang="zh-CN" sz="1800" dirty="0">
                <a:solidFill>
                  <a:schemeClr val="bg1"/>
                </a:solidFill>
                <a:effectLst/>
                <a:latin typeface="Arial" panose="020B0604020202020204" pitchFamily="34" charset="0"/>
                <a:cs typeface="Arial" panose="020B0604020202020204" pitchFamily="34" charset="0"/>
              </a:rPr>
              <a:t>Hanyi WANG</a:t>
            </a:r>
            <a:endParaRPr lang="en" altLang="zh-CN" sz="1800" dirty="0">
              <a:solidFill>
                <a:schemeClr val="bg1"/>
              </a:solidFill>
              <a:effectLst/>
              <a:latin typeface="Arial" panose="020B0604020202020204" pitchFamily="34" charset="0"/>
              <a:cs typeface="Arial" panose="020B0604020202020204" pitchFamily="34" charset="0"/>
            </a:endParaRPr>
          </a:p>
          <a:p>
            <a:pPr>
              <a:lnSpc>
                <a:spcPct val="150000"/>
              </a:lnSpc>
            </a:pPr>
            <a:r>
              <a:rPr lang="en" altLang="zh-CN" sz="1800" dirty="0">
                <a:solidFill>
                  <a:schemeClr val="bg1"/>
                </a:solidFill>
                <a:effectLst/>
                <a:latin typeface="Arial" panose="020B0604020202020204" pitchFamily="34" charset="0"/>
                <a:cs typeface="Arial" panose="020B0604020202020204" pitchFamily="34" charset="0"/>
              </a:rPr>
              <a:t>Reproduce the </a:t>
            </a:r>
            <a:r>
              <a:rPr lang="en" altLang="zh-CN" dirty="0">
                <a:solidFill>
                  <a:schemeClr val="bg1"/>
                </a:solidFill>
                <a:latin typeface="Arial" panose="020B0604020202020204" pitchFamily="34" charset="0"/>
                <a:cs typeface="Arial" panose="020B0604020202020204" pitchFamily="34" charset="0"/>
              </a:rPr>
              <a:t>GASTON</a:t>
            </a:r>
            <a:r>
              <a:rPr lang="zh-CN" altLang="en-US" sz="1800" dirty="0">
                <a:solidFill>
                  <a:schemeClr val="bg1"/>
                </a:solidFill>
                <a:effectLst/>
                <a:latin typeface="Arial" panose="020B0604020202020204" pitchFamily="34" charset="0"/>
                <a:cs typeface="Arial" panose="020B0604020202020204" pitchFamily="34" charset="0"/>
              </a:rPr>
              <a:t> </a:t>
            </a:r>
            <a:r>
              <a:rPr lang="en" altLang="zh-CN" sz="1800" dirty="0">
                <a:solidFill>
                  <a:schemeClr val="bg1"/>
                </a:solidFill>
                <a:effectLst/>
                <a:latin typeface="Arial" panose="020B0604020202020204" pitchFamily="34" charset="0"/>
                <a:cs typeface="Arial" panose="020B0604020202020204" pitchFamily="34" charset="0"/>
              </a:rPr>
              <a:t>methods: </a:t>
            </a:r>
            <a:r>
              <a:rPr lang="en" altLang="zh-CN" sz="1800" dirty="0" err="1">
                <a:solidFill>
                  <a:schemeClr val="bg1"/>
                </a:solidFill>
                <a:effectLst/>
                <a:latin typeface="Arial" panose="020B0604020202020204" pitchFamily="34" charset="0"/>
                <a:cs typeface="Arial" panose="020B0604020202020204" pitchFamily="34" charset="0"/>
              </a:rPr>
              <a:t>Chuyu</a:t>
            </a:r>
            <a:r>
              <a:rPr lang="en" altLang="zh-CN" sz="1800" dirty="0">
                <a:solidFill>
                  <a:schemeClr val="bg1"/>
                </a:solidFill>
                <a:effectLst/>
                <a:latin typeface="Arial" panose="020B0604020202020204" pitchFamily="34" charset="0"/>
                <a:cs typeface="Arial" panose="020B0604020202020204" pitchFamily="34" charset="0"/>
              </a:rPr>
              <a:t> QIAO</a:t>
            </a:r>
            <a:endParaRPr lang="en" altLang="zh-CN" dirty="0">
              <a:solidFill>
                <a:schemeClr val="bg1"/>
              </a:solidFill>
              <a:latin typeface="Arial" panose="020B0604020202020204" pitchFamily="34" charset="0"/>
              <a:cs typeface="Arial" panose="020B0604020202020204" pitchFamily="34" charset="0"/>
            </a:endParaRPr>
          </a:p>
          <a:p>
            <a:pPr>
              <a:lnSpc>
                <a:spcPct val="150000"/>
              </a:lnSpc>
            </a:pPr>
            <a:r>
              <a:rPr lang="en-US" altLang="zh-CN" dirty="0">
                <a:solidFill>
                  <a:schemeClr val="bg1"/>
                </a:solidFill>
                <a:latin typeface="Arial" panose="020B0604020202020204" pitchFamily="34" charset="0"/>
                <a:cs typeface="Arial" panose="020B0604020202020204" pitchFamily="34" charset="0"/>
              </a:rPr>
              <a:t>D</a:t>
            </a:r>
            <a:r>
              <a:rPr lang="en-US" altLang="zh-CN" sz="1800" dirty="0">
                <a:solidFill>
                  <a:schemeClr val="bg1"/>
                </a:solidFill>
                <a:effectLst/>
                <a:latin typeface="Arial" panose="020B0604020202020204" pitchFamily="34" charset="0"/>
                <a:cs typeface="Arial" panose="020B0604020202020204" pitchFamily="34" charset="0"/>
              </a:rPr>
              <a:t>ifferent expression analysis: Hanyi WANG &amp; Tianyu CHEN</a:t>
            </a:r>
            <a:endParaRPr lang="en-US" altLang="zh-CN" dirty="0">
              <a:solidFill>
                <a:schemeClr val="bg1"/>
              </a:solidFill>
              <a:latin typeface="Arial" panose="020B0604020202020204" pitchFamily="34" charset="0"/>
              <a:cs typeface="Arial" panose="020B0604020202020204" pitchFamily="34" charset="0"/>
            </a:endParaRPr>
          </a:p>
          <a:p>
            <a:pPr>
              <a:lnSpc>
                <a:spcPct val="150000"/>
              </a:lnSpc>
            </a:pPr>
            <a:r>
              <a:rPr lang="en-US" altLang="zh-CN" sz="1800" dirty="0">
                <a:solidFill>
                  <a:schemeClr val="bg1"/>
                </a:solidFill>
                <a:effectLst/>
                <a:latin typeface="Arial" panose="020B0604020202020204" pitchFamily="34" charset="0"/>
                <a:cs typeface="Arial" panose="020B0604020202020204" pitchFamily="34" charset="0"/>
              </a:rPr>
              <a:t>PPT: Tianyu CHEN</a:t>
            </a:r>
            <a:endParaRPr lang="en" altLang="zh-CN" sz="1800" dirty="0">
              <a:solidFill>
                <a:schemeClr val="bg1"/>
              </a:solidFill>
              <a:effectLst/>
              <a:latin typeface="Arial" panose="020B0604020202020204" pitchFamily="34" charset="0"/>
              <a:cs typeface="Arial" panose="020B0604020202020204" pitchFamily="34" charset="0"/>
            </a:endParaRPr>
          </a:p>
          <a:p>
            <a:endParaRPr kumimoji="1" lang="en-US" altLang="zh-CN"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03401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1209</TotalTime>
  <Words>1318</Words>
  <Application>Microsoft Macintosh PowerPoint</Application>
  <PresentationFormat>宽屏</PresentationFormat>
  <Paragraphs>91</Paragraphs>
  <Slides>12</Slides>
  <Notes>12</Notes>
  <HiddenSlides>2</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等线</vt:lpstr>
      <vt:lpstr>等线 Light</vt:lpstr>
      <vt:lpstr>Microsoft YaHei</vt:lpstr>
      <vt:lpstr>MyriadPro-Light</vt:lpstr>
      <vt:lpstr>Arial</vt:lpstr>
      <vt:lpstr>Office 主题​​</vt:lpstr>
      <vt:lpstr>Gene differential expression analysis based on spatial transcriptome data</vt:lpstr>
      <vt:lpstr>The brain has spatial-level differences in gene expression</vt:lpstr>
      <vt:lpstr>Improvement of the spot clustering and annotation for spatial transcriptome</vt:lpstr>
      <vt:lpstr>PowerPoint 演示文稿</vt:lpstr>
      <vt:lpstr>PowerPoint 演示文稿</vt:lpstr>
      <vt:lpstr>Reproduce the GASTON methods used in the article for future analyses</vt:lpstr>
      <vt:lpstr>Clustering after GASTON unveiled the brain layers</vt:lpstr>
      <vt:lpstr>Several genes exhibit different expression across different layers</vt:lpstr>
      <vt:lpstr>Several genes exhibit different expression across different layers</vt:lpstr>
      <vt:lpstr>Several genes exhibit different expression across different layers</vt:lpstr>
      <vt:lpstr>Several genes exhibit different expression across different layers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Carrie Chen</dc:creator>
  <cp:lastModifiedBy>Carrie Chen</cp:lastModifiedBy>
  <cp:revision>109</cp:revision>
  <dcterms:created xsi:type="dcterms:W3CDTF">2025-04-06T15:05:08Z</dcterms:created>
  <dcterms:modified xsi:type="dcterms:W3CDTF">2025-04-07T14:24:18Z</dcterms:modified>
</cp:coreProperties>
</file>